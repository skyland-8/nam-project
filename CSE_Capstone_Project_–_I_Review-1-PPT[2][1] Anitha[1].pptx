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 id="2147483672" r:id="rId4"/>
  </p:sldMasterIdLst>
  <p:notesMasterIdLst>
    <p:notesMasterId r:id="rId12"/>
  </p:notesMasterIdLst>
  <p:sldIdLst>
    <p:sldId id="266" r:id="rId5"/>
    <p:sldId id="267" r:id="rId6"/>
    <p:sldId id="259" r:id="rId7"/>
    <p:sldId id="260" r:id="rId8"/>
    <p:sldId id="261" r:id="rId9"/>
    <p:sldId id="262" r:id="rId10"/>
    <p:sldId id="263" r:id="rId11"/>
    <p:sldId id="298" r:id="rId13"/>
    <p:sldId id="299" r:id="rId14"/>
    <p:sldId id="302" r:id="rId15"/>
    <p:sldId id="277" r:id="rId16"/>
    <p:sldId id="271" r:id="rId17"/>
    <p:sldId id="281" r:id="rId18"/>
    <p:sldId id="283" r:id="rId19"/>
    <p:sldId id="303" r:id="rId20"/>
    <p:sldId id="286" r:id="rId21"/>
    <p:sldId id="279" r:id="rId22"/>
    <p:sldId id="307" r:id="rId23"/>
    <p:sldId id="308" r:id="rId24"/>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87" userDrawn="1">
          <p15:clr>
            <a:srgbClr val="A4A3A4"/>
          </p15:clr>
        </p15:guide>
        <p15:guide id="2" pos="28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5"/>
    <p:restoredTop sz="94660"/>
  </p:normalViewPr>
  <p:slideViewPr>
    <p:cSldViewPr showGuides="1">
      <p:cViewPr varScale="1">
        <p:scale>
          <a:sx n="62" d="100"/>
          <a:sy n="62" d="100"/>
        </p:scale>
        <p:origin x="72" y="403"/>
      </p:cViewPr>
      <p:guideLst>
        <p:guide orient="horz" pos="2187"/>
        <p:guide pos="28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815C141-5EBC-460F-8A6E-1BEE512B9771}"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5E6C292-E6C8-4CDC-BBC1-C5C1CCD9458C}" type="slidenum">
              <a:rPr kumimoji="0" lang="en-IN"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B894928-E3DF-4199-AD1A-CC67886D4411}"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DCDF7BA-C055-4639-BC21-AF28F888055C}"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endParaRPr lang="en-US" altLang="en-US" dirty="0"/>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68C889B-5835-4DA3-8146-1B6CC5817FDC}"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E208F8C-7214-472E-9078-43F8663E2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endParaRPr lang="en-US" altLang="en-US" dirty="0"/>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9548A97-FE93-4CC6-A74F-24B8E1F02006}"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9BBF1B6-28FB-4268-9AE7-DC133BE384F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39713" y="747713"/>
            <a:ext cx="8580437" cy="1457325"/>
          </a:xfrm>
        </p:spPr>
        <p:txBody>
          <a:bodyPr vert="horz" wrap="square" lIns="91440" tIns="45720" rIns="91440" bIns="45720" anchor="ctr" anchorCtr="0"/>
          <a:lstStyle/>
          <a:p>
            <a:pPr eaLnBrk="1" hangingPunct="1"/>
            <a:r>
              <a:rPr lang="en-IN" altLang="en-US" sz="2000" dirty="0">
                <a:latin typeface="Times New Roman" panose="02020603050405020304" pitchFamily="18" charset="0"/>
                <a:cs typeface="Times New Roman" panose="02020603050405020304" pitchFamily="18" charset="0"/>
              </a:rPr>
              <a:t>Capstone Project – I:  Review – 1 on</a:t>
            </a:r>
            <a:br>
              <a:rPr lang="en-IN" altLang="en-US" sz="3200" b="1" dirty="0">
                <a:latin typeface="Times New Roman" panose="02020603050405020304" pitchFamily="18" charset="0"/>
                <a:cs typeface="Times New Roman" panose="02020603050405020304" pitchFamily="18" charset="0"/>
              </a:rPr>
            </a:br>
            <a:r>
              <a:rPr lang="en-IN" altLang="en-US" sz="2400" b="1" dirty="0">
                <a:solidFill>
                  <a:srgbClr val="00B0F0"/>
                </a:solidFill>
                <a:latin typeface="Times New Roman" panose="02020603050405020304" pitchFamily="18" charset="0"/>
                <a:cs typeface="Times New Roman" panose="02020603050405020304" pitchFamily="18" charset="0"/>
              </a:rPr>
              <a:t>Enhance the security and privacy of Federated Learning systems</a:t>
            </a:r>
            <a:endParaRPr lang="en-IN" altLang="en-US" sz="2400" b="1" dirty="0">
              <a:solidFill>
                <a:srgbClr val="00B0F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411413" y="4508500"/>
            <a:ext cx="4105275" cy="1222375"/>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Under the Guidance of</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en-IN" sz="20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IN" sz="20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arikshith Nayak S K</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Assistant Professor</a:t>
            </a:r>
            <a:endParaRPr kumimoji="0" lang="en-I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alt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p:txBody>
      </p:sp>
      <p:sp>
        <p:nvSpPr>
          <p:cNvPr id="4100" name="TextBox 4"/>
          <p:cNvSpPr txBox="1">
            <a:spLocks noChangeArrowheads="1"/>
          </p:cNvSpPr>
          <p:nvPr/>
        </p:nvSpPr>
        <p:spPr bwMode="auto">
          <a:xfrm>
            <a:off x="107633" y="2283778"/>
            <a:ext cx="83756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anose="020F0502020204030204" pitchFamily="34" charset="0"/>
              </a:defRPr>
            </a:lvl1pPr>
            <a:lvl2pPr>
              <a:defRPr sz="2800">
                <a:solidFill>
                  <a:schemeClr val="tx1"/>
                </a:solidFill>
                <a:latin typeface="Calibri" panose="020F0502020204030204" pitchFamily="34" charset="0"/>
              </a:defRPr>
            </a:lvl2pPr>
            <a:lvl3pPr>
              <a:defRPr sz="24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6pPr>
            <a:lvl7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7pPr>
            <a:lvl8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8pPr>
            <a:lvl9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Presented by the Batch No. : CSE-24</a:t>
            </a:r>
            <a:endParaRPr kumimoji="0" lang="en-I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0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a:t>
            </a:r>
            <a:r>
              <a:rPr kumimoji="0" lang="en-IN"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ANITHA</a:t>
            </a:r>
            <a:r>
              <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BU22CSEN0101001</a:t>
            </a:r>
            <a:r>
              <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V.NIRANJAN</a:t>
            </a:r>
            <a:r>
              <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BU22CSEN0101209</a:t>
            </a:r>
            <a:r>
              <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I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G.B. NAMITHA                             - BU22CSEN0100875</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it-IT"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it-IT"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C.PURUSHOTHAM SAI</a:t>
            </a:r>
            <a:r>
              <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IN" altLang="en-US" sz="1800" dirty="0">
                <a:solidFill>
                  <a:prstClr val="black"/>
                </a:solidFill>
                <a:latin typeface="Times New Roman" panose="02020603050405020304" pitchFamily="18" charset="0"/>
                <a:cs typeface="Times New Roman" panose="02020603050405020304" pitchFamily="18" charset="0"/>
              </a:rPr>
              <a:t> </a:t>
            </a:r>
            <a:r>
              <a:rPr kumimoji="0" lang="en-IN"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BU22CSEN0100356</a:t>
            </a:r>
            <a:endParaRPr kumimoji="0" lang="en-US" alt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it-IT"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125" name="Rectangle 11"/>
          <p:cNvSpPr/>
          <p:nvPr/>
        </p:nvSpPr>
        <p:spPr>
          <a:xfrm>
            <a:off x="539750" y="5732463"/>
            <a:ext cx="8280400" cy="10160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IN" altLang="en-US" sz="2000" b="1" dirty="0">
                <a:solidFill>
                  <a:srgbClr val="000099"/>
                </a:solidFill>
                <a:latin typeface="Times New Roman" panose="02020603050405020304" pitchFamily="18" charset="0"/>
                <a:cs typeface="Times New Roman" panose="02020603050405020304" pitchFamily="18" charset="0"/>
              </a:rPr>
              <a:t>Department of Computer Science and Engineering</a:t>
            </a:r>
            <a:endParaRPr lang="en-IN" altLang="en-US" sz="2000" b="1" dirty="0">
              <a:solidFill>
                <a:srgbClr val="000099"/>
              </a:solidFill>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GITAM School of CSE, GITAM (Deemed to be University),</a:t>
            </a:r>
            <a:endParaRPr lang="en-US" altLang="en-US" sz="2000" dirty="0">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Bengaluru, Karnataka, INDIA.</a:t>
            </a:r>
            <a:endParaRPr lang="en-IN" altLang="en-US" sz="2000" b="1" dirty="0">
              <a:solidFill>
                <a:srgbClr val="000099"/>
              </a:solidFill>
              <a:latin typeface="Times New Roman" panose="02020603050405020304" pitchFamily="18" charset="0"/>
              <a:ea typeface="Times New Roman" panose="02020603050405020304" pitchFamily="18" charset="0"/>
            </a:endParaRPr>
          </a:p>
        </p:txBody>
      </p:sp>
      <p:pic>
        <p:nvPicPr>
          <p:cNvPr id="5126"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95536" y="492125"/>
            <a:ext cx="5278437" cy="885825"/>
          </a:xfrm>
        </p:spPr>
        <p:txBody>
          <a:bodyPr vert="horz" wrap="square" lIns="91440" tIns="45720" rIns="91440" bIns="45720" anchor="ctr" anchorCtr="0"/>
          <a:lstStyle/>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395536" y="1379384"/>
            <a:ext cx="7056784"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endPar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Work Breakdown &amp; Task Allocation</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Timeline &amp; Milestones (Gantt Chart)</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Conclusion</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6148"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7171" name="Rectangle 3"/>
          <p:cNvSpPr>
            <a:spLocks noChangeArrowheads="1"/>
          </p:cNvSpPr>
          <p:nvPr/>
        </p:nvSpPr>
        <p:spPr bwMode="auto">
          <a:xfrm>
            <a:off x="3059113" y="312738"/>
            <a:ext cx="2401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Abstract</a:t>
            </a:r>
            <a:endParaRPr kumimoji="0" lang="en-IN" altLang="en-US" sz="32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sp>
        <p:nvSpPr>
          <p:cNvPr id="2" name="Text Box 1"/>
          <p:cNvSpPr txBox="1"/>
          <p:nvPr/>
        </p:nvSpPr>
        <p:spPr>
          <a:xfrm>
            <a:off x="287524" y="1340768"/>
            <a:ext cx="8568952" cy="4646295"/>
          </a:xfrm>
          <a:prstGeom prst="rect">
            <a:avLst/>
          </a:prstGeom>
          <a:noFill/>
        </p:spPr>
        <p:txBody>
          <a:bodyPr wrap="square" rtlCol="0">
            <a:noAutofit/>
          </a:bodyPr>
          <a:lstStyle/>
          <a:p>
            <a:pPr marL="285750" indent="-285750">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pP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pPr>
            <a:endParaRPr lang="en-US" altLang="en-US" sz="1800" dirty="0">
              <a:latin typeface="Times New Roman" panose="02020603050405020304" pitchFamily="18" charset="0"/>
              <a:cs typeface="Times New Roman" panose="02020603050405020304" pitchFamily="18" charset="0"/>
            </a:endParaRPr>
          </a:p>
          <a:p>
            <a:pPr algn="just">
              <a:buFont typeface="Arial" panose="020B0604020202020204" pitchFamily="34" charset="0"/>
            </a:pPr>
            <a:r>
              <a:rPr lang="en-US" altLang="en-US" dirty="0">
                <a:latin typeface="Times New Roman" panose="02020603050405020304" pitchFamily="18" charset="0"/>
                <a:cs typeface="Times New Roman" panose="02020603050405020304" pitchFamily="18" charset="0"/>
              </a:rPr>
              <a:t>This project focuses on enhancing the security and privacy of Federated Learning (FL) systems. By implementing encryption techniques and digital signatures, client updates are protected during transmission and verified for authenticity, ensuring that only trusted participants contribute to the global model. The approach safeguards sensitive data while maintaining collaborative model training. A federated logistic regression model is used to demonstrate how secure updates improve the reliability and performance of the global model. This framework provides a robust and trustworthy FL solution suitable for privacy-sensitive applications such as healthcare, finance, and IoT.</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9219" name="Rectangle 2"/>
          <p:cNvSpPr>
            <a:spLocks noChangeArrowheads="1"/>
          </p:cNvSpPr>
          <p:nvPr/>
        </p:nvSpPr>
        <p:spPr bwMode="auto">
          <a:xfrm>
            <a:off x="2771775" y="312738"/>
            <a:ext cx="2135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Introduction</a:t>
            </a:r>
            <a:endPar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sp>
        <p:nvSpPr>
          <p:cNvPr id="3" name="Text Box 2"/>
          <p:cNvSpPr txBox="1"/>
          <p:nvPr/>
        </p:nvSpPr>
        <p:spPr>
          <a:xfrm>
            <a:off x="251520" y="1092835"/>
            <a:ext cx="8568952" cy="5371465"/>
          </a:xfrm>
          <a:prstGeom prst="rect">
            <a:avLst/>
          </a:prstGeom>
          <a:noFill/>
        </p:spPr>
        <p:txBody>
          <a:bodyPr wrap="square" rtlCol="0">
            <a:noAutofit/>
          </a:bodyPr>
          <a:lstStyle/>
          <a:p>
            <a:r>
              <a:rPr lang="en-US" altLang="en-US" dirty="0">
                <a:latin typeface="Times New Roman" panose="02020603050405020304" pitchFamily="18" charset="0"/>
                <a:cs typeface="Times New Roman" panose="02020603050405020304" pitchFamily="18" charset="0"/>
              </a:rPr>
              <a:t>Machine Learning (ML) has become a key technology for analyzing information and making predictions. Traditional ML approaches require collecting all data in a central server, which can lead to serious privacy and security risks, especially when handling sensitive data from healthcare, finance, or personal devices.</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Federated Learning (FL) is an advanced approach where data remains on local devices, and only model updates are shared with a central server. This allows multiple devices or organizations to collaboratively train a global model while keeping their data private.</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Despite its privacy benefits, FL faces several security challenges:</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 leakage during update transmission.</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Malicious clients sending fake or poisoned updates to disrupt the global model.</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Integrity attacks, where unauthorized changes affect model accuracy.</a:t>
            </a:r>
            <a:endParaRPr lang="en-US" alt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0243" name="Rectangle 4"/>
          <p:cNvSpPr>
            <a:spLocks noChangeArrowheads="1"/>
          </p:cNvSpPr>
          <p:nvPr/>
        </p:nvSpPr>
        <p:spPr bwMode="auto">
          <a:xfrm>
            <a:off x="2627313" y="363538"/>
            <a:ext cx="3175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Introduction..</a:t>
            </a:r>
            <a:r>
              <a:rPr kumimoji="0" lang="en-IN" altLang="en-US" sz="2800" b="1" i="0" u="none" strike="noStrike" kern="1200" cap="none" spc="0" normalizeH="0" baseline="0" noProof="0" dirty="0" err="1">
                <a:ln>
                  <a:noFill/>
                </a:ln>
                <a:solidFill>
                  <a:srgbClr val="0070C0"/>
                </a:solidFill>
                <a:effectLst/>
                <a:uLnTx/>
                <a:uFillTx/>
                <a:latin typeface="Times New Roman" panose="02020603050405020304" pitchFamily="18" charset="0"/>
                <a:ea typeface="+mj-ea"/>
                <a:cs typeface="Times New Roman" panose="02020603050405020304" pitchFamily="18" charset="0"/>
              </a:rPr>
              <a:t>contd</a:t>
            </a:r>
            <a:endPar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sp>
        <p:nvSpPr>
          <p:cNvPr id="2" name="Text Box 1"/>
          <p:cNvSpPr txBox="1"/>
          <p:nvPr/>
        </p:nvSpPr>
        <p:spPr>
          <a:xfrm>
            <a:off x="359532" y="1645104"/>
            <a:ext cx="8424935" cy="3567792"/>
          </a:xfrm>
          <a:prstGeom prst="rect">
            <a:avLst/>
          </a:prstGeom>
          <a:noFill/>
        </p:spPr>
        <p:txBody>
          <a:bodyPr wrap="square" rtlCol="0">
            <a:noAutofit/>
          </a:bodyPr>
          <a:lstStyle/>
          <a:p>
            <a:r>
              <a:rPr lang="en-US" altLang="en-US" dirty="0">
                <a:latin typeface="Times New Roman" panose="02020603050405020304" pitchFamily="18" charset="0"/>
                <a:cs typeface="Times New Roman" panose="02020603050405020304" pitchFamily="18" charset="0"/>
              </a:rPr>
              <a:t>Our project focuses on enhancing the security and privacy of Federated Learning systems by:</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Using encryption to protect model updates during transmission.</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Applying digital signatures to ensure the authenticity and integrity of updates.</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 goal is to create a robust, secure, and privacy-preserving FL framework that can be applied in sensitive areas like healthcare, finance, IoT devices, and smart applications, ensuring both data confidentiality and model reliability.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2291" name="Rectangle 3"/>
          <p:cNvSpPr>
            <a:spLocks noChangeArrowheads="1"/>
          </p:cNvSpPr>
          <p:nvPr/>
        </p:nvSpPr>
        <p:spPr bwMode="auto">
          <a:xfrm>
            <a:off x="2627630" y="196850"/>
            <a:ext cx="293878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Literature Survey</a:t>
            </a:r>
            <a:endPar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7" name="Table 6"/>
          <p:cNvGraphicFramePr>
            <a:graphicFrameLocks noGrp="1"/>
          </p:cNvGraphicFramePr>
          <p:nvPr>
            <p:custDataLst>
              <p:tags r:id="rId2"/>
            </p:custDataLst>
          </p:nvPr>
        </p:nvGraphicFramePr>
        <p:xfrm>
          <a:off x="611505" y="1056005"/>
          <a:ext cx="8044180" cy="5537835"/>
        </p:xfrm>
        <a:graphic>
          <a:graphicData uri="http://schemas.openxmlformats.org/drawingml/2006/table">
            <a:tbl>
              <a:tblPr firstRow="1" firstCol="1" bandRow="1"/>
              <a:tblGrid>
                <a:gridCol w="1158875"/>
                <a:gridCol w="1236345"/>
                <a:gridCol w="2068830"/>
                <a:gridCol w="1725295"/>
                <a:gridCol w="1854835"/>
              </a:tblGrid>
              <a:tr h="762000">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S. No.</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pa</a:t>
                      </a:r>
                      <a:r>
                        <a:rPr lang="en-US" sz="1600" b="1" dirty="0">
                          <a:effectLst/>
                          <a:latin typeface="Times New Roman" panose="02020603050405020304" pitchFamily="18" charset="0"/>
                          <a:ea typeface="Calibri" panose="020F0502020204030204"/>
                          <a:cs typeface="Times New Roman" panose="02020603050405020304" pitchFamily="18" charset="0"/>
                        </a:rPr>
                        <a:t>per Details</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Summary</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dirty="0">
                          <a:effectLst/>
                          <a:latin typeface="Times New Roman" panose="02020603050405020304" pitchFamily="18" charset="0"/>
                          <a:ea typeface="Calibri" panose="020F0502020204030204"/>
                          <a:cs typeface="Times New Roman" panose="02020603050405020304" pitchFamily="18" charset="0"/>
                        </a:rPr>
                        <a:t> Used</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Research Gap</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75835">
                <a:tc>
                  <a:txBody>
                    <a:bodyPr/>
                    <a:lstStyle/>
                    <a:p>
                      <a:pPr algn="just">
                        <a:lnSpc>
                          <a:spcPct val="150000"/>
                        </a:lnSpc>
                        <a:spcAft>
                          <a:spcPts val="0"/>
                        </a:spcAft>
                      </a:pPr>
                      <a:r>
                        <a:rPr lang="en-US" sz="1200" b="1">
                          <a:effectLst/>
                          <a:latin typeface="Times New Roman" panose="02020603050405020304" pitchFamily="18" charset="0"/>
                          <a:ea typeface="Calibri" panose="020F0502020204030204"/>
                          <a:cs typeface="Times New Roman" panose="02020603050405020304" pitchFamily="18" charset="0"/>
                        </a:rPr>
                        <a:t> </a:t>
                      </a:r>
                      <a:r>
                        <a:rPr lang="en-IN" altLang="en-US" sz="1200" b="1">
                          <a:effectLst/>
                          <a:latin typeface="Times New Roman" panose="02020603050405020304" pitchFamily="18" charset="0"/>
                          <a:ea typeface="Calibri" panose="020F0502020204030204"/>
                          <a:cs typeface="Times New Roman" panose="02020603050405020304" pitchFamily="18" charset="0"/>
                        </a:rPr>
                        <a:t>1</a:t>
                      </a:r>
                      <a:endParaRPr lang="en-IN" altLang="en-US" sz="12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sym typeface="+mn-ea"/>
                        </a:rPr>
                        <a:t>TITLE:</a:t>
                      </a:r>
                      <a:endParaRPr lang="en-IN" altLang="en-US" sz="1600" b="1" dirty="0">
                        <a:effectLst/>
                        <a:latin typeface="Times New Roman" panose="02020603050405020304" pitchFamily="18" charset="0"/>
                        <a:ea typeface="Calibri" panose="020F0502020204030204"/>
                        <a:cs typeface="Times New Roman" panose="02020603050405020304" pitchFamily="18" charset="0"/>
                        <a:sym typeface="+mn-ea"/>
                      </a:endParaRPr>
                    </a:p>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sym typeface="+mn-ea"/>
                        </a:rPr>
                        <a:t>Security and Privacy-Enhanced federated learning for anomaly detection in IoT. </a:t>
                      </a:r>
                      <a:endParaRPr lang="en-US" altLang="en-US" sz="1600" dirty="0">
                        <a:effectLst/>
                        <a:latin typeface="Times New Roman" panose="02020603050405020304" pitchFamily="18" charset="0"/>
                        <a:ea typeface="Calibri" panose="020F0502020204030204"/>
                        <a:cs typeface="Times New Roman" panose="02020603050405020304" pitchFamily="18" charset="0"/>
                        <a:sym typeface="+mn-ea"/>
                      </a:endParaRPr>
                    </a:p>
                    <a:p>
                      <a:pPr algn="l">
                        <a:lnSpc>
                          <a:spcPct val="100000"/>
                        </a:lnSpc>
                        <a:spcAft>
                          <a:spcPts val="0"/>
                        </a:spcAft>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AUTHORS: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rPr>
                        <a:t>Cui, L., Qu, Y., Xie, G., Zeng, D., Li, R., Shen, S., &amp; Yu, 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YEAR: </a:t>
                      </a:r>
                      <a:r>
                        <a:rPr lang="en-IN" altLang="en-US" sz="1600" b="0" dirty="0">
                          <a:effectLst/>
                          <a:latin typeface="Times New Roman" panose="02020603050405020304" pitchFamily="18" charset="0"/>
                          <a:ea typeface="Calibri" panose="020F0502020204030204"/>
                          <a:cs typeface="Times New Roman" panose="02020603050405020304" pitchFamily="18" charset="0"/>
                        </a:rPr>
                        <a:t>(2012)</a:t>
                      </a:r>
                      <a:endParaRPr lang="en-IN" alt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rPr>
                        <a:t>Blockchain-enabled decentralized federated learning with DP-GAN achieves &gt;95% IoT anomaly detection accuracy while enhancing security, privacy, and robustnes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Asynchronous Federated Learning</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Blockchain Aggregation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Differential Privacy GAN (DP-GAN)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indent="0" algn="l">
                        <a:lnSpc>
                          <a:spcPct val="100000"/>
                        </a:lnSpc>
                        <a:spcAft>
                          <a:spcPts val="0"/>
                        </a:spcAft>
                        <a:buFont typeface="Arial" panose="020B0604020202020204" pitchFamily="34" charset="0"/>
                        <a:buNone/>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High communication/computation overhead</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Limited real-world deployment</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Device/hyperparameter optimization needed</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Weak adversarial/poisoning defenses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312" name="Rectangle 2"/>
          <p:cNvSpPr/>
          <p:nvPr/>
        </p:nvSpPr>
        <p:spPr>
          <a:xfrm>
            <a:off x="2339975" y="673735"/>
            <a:ext cx="3661410" cy="532765"/>
          </a:xfrm>
          <a:prstGeom prst="rect">
            <a:avLst/>
          </a:prstGeom>
          <a:noFill/>
          <a:ln w="9525">
            <a:noFill/>
          </a:ln>
        </p:spPr>
        <p:txBody>
          <a:bodyPr wrap="none" anchor="ctr" anchorCtr="0">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dirty="0">
                <a:latin typeface="Times New Roman" panose="02020603050405020304" pitchFamily="18" charset="0"/>
                <a:cs typeface="Calibri" panose="020F0502020204030204" pitchFamily="34" charset="0"/>
              </a:rPr>
              <a:t>Table </a:t>
            </a:r>
            <a:r>
              <a:rPr lang="en-IN" altLang="en-US" sz="2000" b="1" dirty="0">
                <a:latin typeface="Times New Roman" panose="02020603050405020304" pitchFamily="18" charset="0"/>
                <a:cs typeface="Calibri" panose="020F0502020204030204" pitchFamily="34" charset="0"/>
              </a:rPr>
              <a:t>1</a:t>
            </a:r>
            <a:r>
              <a:rPr lang="en-US" altLang="en-US" sz="2000" b="1" dirty="0">
                <a:latin typeface="Times New Roman" panose="02020603050405020304" pitchFamily="18" charset="0"/>
                <a:cs typeface="Calibri" panose="020F0502020204030204" pitchFamily="34" charset="0"/>
              </a:rPr>
              <a:t>: Literature Survey</a:t>
            </a:r>
            <a:endParaRPr lang="en-US" altLang="en-US" sz="1100" b="1" dirty="0">
              <a:latin typeface="Times New Roman" panose="02020603050405020304" pitchFamily="18" charset="0"/>
              <a:ea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3315" name="Rectangle 3"/>
          <p:cNvSpPr>
            <a:spLocks noChangeArrowheads="1"/>
          </p:cNvSpPr>
          <p:nvPr/>
        </p:nvSpPr>
        <p:spPr bwMode="auto">
          <a:xfrm>
            <a:off x="1979930" y="153670"/>
            <a:ext cx="415798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Literature Survey…</a:t>
            </a:r>
            <a:r>
              <a:rPr kumimoji="0" lang="en-IN" altLang="en-US" sz="2800" b="1" i="0" u="none" strike="noStrike" kern="1200" cap="none" spc="0" normalizeH="0" baseline="0" noProof="0" dirty="0" err="1">
                <a:ln>
                  <a:noFill/>
                </a:ln>
                <a:solidFill>
                  <a:srgbClr val="0070C0"/>
                </a:solidFill>
                <a:effectLst/>
                <a:uLnTx/>
                <a:uFillTx/>
                <a:latin typeface="Times New Roman" panose="02020603050405020304" pitchFamily="18" charset="0"/>
                <a:ea typeface="+mj-ea"/>
                <a:cs typeface="Times New Roman" panose="02020603050405020304" pitchFamily="18" charset="0"/>
              </a:rPr>
              <a:t>contd</a:t>
            </a:r>
            <a:endPar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sp>
        <p:nvSpPr>
          <p:cNvPr id="13316" name="Rectangle 2"/>
          <p:cNvSpPr/>
          <p:nvPr/>
        </p:nvSpPr>
        <p:spPr>
          <a:xfrm>
            <a:off x="2399030" y="688340"/>
            <a:ext cx="4100195" cy="577850"/>
          </a:xfrm>
          <a:prstGeom prst="rect">
            <a:avLst/>
          </a:prstGeom>
          <a:noFill/>
          <a:ln w="9525">
            <a:noFill/>
          </a:ln>
        </p:spPr>
        <p:txBody>
          <a:bodyPr wrap="none" anchor="ctr" anchorCtr="0">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dirty="0">
                <a:latin typeface="Times New Roman" panose="02020603050405020304" pitchFamily="18" charset="0"/>
                <a:cs typeface="Calibri" panose="020F0502020204030204" pitchFamily="34" charset="0"/>
              </a:rPr>
              <a:t>Table </a:t>
            </a:r>
            <a:r>
              <a:rPr lang="en-IN" altLang="en-US" sz="2000" b="1" dirty="0">
                <a:latin typeface="Times New Roman" panose="02020603050405020304" pitchFamily="18" charset="0"/>
                <a:cs typeface="Calibri" panose="020F0502020204030204" pitchFamily="34" charset="0"/>
              </a:rPr>
              <a:t>2</a:t>
            </a:r>
            <a:r>
              <a:rPr lang="en-US" altLang="en-US" sz="2000" b="1" dirty="0">
                <a:latin typeface="Times New Roman" panose="02020603050405020304" pitchFamily="18" charset="0"/>
                <a:cs typeface="Calibri" panose="020F0502020204030204" pitchFamily="34" charset="0"/>
              </a:rPr>
              <a:t>: Literature Survey Contd</a:t>
            </a:r>
            <a:r>
              <a:rPr lang="en-US" altLang="en-US" sz="2000" b="1" dirty="0">
                <a:latin typeface="Times New Roman" panose="02020603050405020304" pitchFamily="18" charset="0"/>
                <a:ea typeface="Calibri" panose="020F0502020204030204" pitchFamily="34" charset="0"/>
              </a:rPr>
              <a:t>…</a:t>
            </a:r>
            <a:endParaRPr lang="en-US" altLang="en-US" sz="1100" b="1" dirty="0">
              <a:latin typeface="Times New Roman" panose="02020603050405020304" pitchFamily="18" charset="0"/>
              <a:ea typeface="Calibri" panose="020F0502020204030204" pitchFamily="34" charset="0"/>
            </a:endParaRPr>
          </a:p>
        </p:txBody>
      </p:sp>
      <p:graphicFrame>
        <p:nvGraphicFramePr>
          <p:cNvPr id="7" name="Table 6"/>
          <p:cNvGraphicFramePr>
            <a:graphicFrameLocks noGrp="1"/>
          </p:cNvGraphicFramePr>
          <p:nvPr>
            <p:custDataLst>
              <p:tags r:id="rId2"/>
            </p:custDataLst>
          </p:nvPr>
        </p:nvGraphicFramePr>
        <p:xfrm>
          <a:off x="320675" y="1296035"/>
          <a:ext cx="8423910" cy="5424170"/>
        </p:xfrm>
        <a:graphic>
          <a:graphicData uri="http://schemas.openxmlformats.org/drawingml/2006/table">
            <a:tbl>
              <a:tblPr firstRow="1" firstCol="1" bandRow="1"/>
              <a:tblGrid>
                <a:gridCol w="1339215"/>
                <a:gridCol w="1674495"/>
                <a:gridCol w="1807845"/>
                <a:gridCol w="1750695"/>
                <a:gridCol w="1851660"/>
              </a:tblGrid>
              <a:tr h="738505">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S. No.</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Paper Details</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Summary</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dirty="0">
                          <a:effectLst/>
                          <a:latin typeface="Times New Roman" panose="02020603050405020304" pitchFamily="18" charset="0"/>
                          <a:ea typeface="Calibri" panose="020F0502020204030204"/>
                          <a:cs typeface="Times New Roman" panose="02020603050405020304" pitchFamily="18" charset="0"/>
                        </a:rPr>
                        <a:t> Used</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Research Gap</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5665">
                <a:tc>
                  <a:txBody>
                    <a:bodyPr/>
                    <a:lstStyle/>
                    <a:p>
                      <a:pPr algn="just">
                        <a:lnSpc>
                          <a:spcPct val="150000"/>
                        </a:lnSpc>
                        <a:spcAft>
                          <a:spcPts val="0"/>
                        </a:spcAft>
                      </a:pPr>
                      <a:r>
                        <a:rPr lang="en-US" sz="1200" b="1">
                          <a:effectLst/>
                          <a:latin typeface="Times New Roman" panose="02020603050405020304" pitchFamily="18" charset="0"/>
                          <a:ea typeface="Calibri" panose="020F0502020204030204"/>
                          <a:cs typeface="Times New Roman" panose="02020603050405020304" pitchFamily="18" charset="0"/>
                        </a:rPr>
                        <a:t> </a:t>
                      </a:r>
                      <a:r>
                        <a:rPr lang="en-IN" altLang="en-US" sz="1200" b="1">
                          <a:effectLst/>
                          <a:latin typeface="Times New Roman" panose="02020603050405020304" pitchFamily="18" charset="0"/>
                          <a:ea typeface="Calibri" panose="020F0502020204030204"/>
                          <a:cs typeface="Times New Roman" panose="02020603050405020304" pitchFamily="18" charset="0"/>
                        </a:rPr>
                        <a:t>2</a:t>
                      </a:r>
                      <a:endParaRPr lang="en-IN" altLang="en-US" sz="12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TITLE:</a:t>
                      </a:r>
                      <a:r>
                        <a:rPr lang="en-US" altLang="en-US" sz="1600" dirty="0">
                          <a:effectLst/>
                          <a:latin typeface="Times New Roman" panose="02020603050405020304" pitchFamily="18" charset="0"/>
                          <a:ea typeface="Calibri" panose="020F0502020204030204"/>
                          <a:cs typeface="Times New Roman" panose="02020603050405020304" pitchFamily="18" charset="0"/>
                        </a:rPr>
                        <a:t>Enhancing Brain Tumor Segmentation Accuracy through Scalable Federated Learning</a:t>
                      </a:r>
                      <a:r>
                        <a:rPr lang="en-IN" altLang="en-US" sz="1600" dirty="0">
                          <a:effectLst/>
                          <a:latin typeface="Times New Roman" panose="02020603050405020304" pitchFamily="18" charset="0"/>
                          <a:ea typeface="Calibri" panose="020F0502020204030204"/>
                          <a:cs typeface="Times New Roman" panose="02020603050405020304" pitchFamily="18" charset="0"/>
                        </a:rPr>
                        <a:t>.</a:t>
                      </a: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AUTHORS:</a:t>
                      </a:r>
                      <a:r>
                        <a:rPr lang="en-US" altLang="en-US" sz="1600" dirty="0">
                          <a:effectLst/>
                          <a:latin typeface="Times New Roman" panose="02020603050405020304" pitchFamily="18" charset="0"/>
                          <a:ea typeface="Calibri" panose="020F0502020204030204"/>
                          <a:cs typeface="Times New Roman" panose="02020603050405020304" pitchFamily="18" charset="0"/>
                        </a:rPr>
                        <a:t>11(19), 4189.</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rPr>
                        <a:t>Ullah, F., Nadeem, M., Abrar, M., Amin, F., Salam, A., &amp; Khan, 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YEAR:2023</a:t>
                      </a:r>
                      <a:endParaRPr lang="en-IN" altLang="en-US"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rPr>
                        <a:t>The paper proposes a federated learning framework with U-Net for privacy-preserving brain tumor segmentation, enabling accurate and scalable collaborative training across hospitals.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Federated Learning</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Secure Aggregation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U-Net Architecture</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Dropout Tolerance</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Efficient Model Aggregation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endParaRPr lang="en-US" altLang="en-US" sz="12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High communication and computation overhead</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 No inherent differential privacy</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Challenging to combine with differential privacy while maintaining utility and scalability</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3315" name="Rectangle 3"/>
          <p:cNvSpPr>
            <a:spLocks noChangeArrowheads="1"/>
          </p:cNvSpPr>
          <p:nvPr/>
        </p:nvSpPr>
        <p:spPr bwMode="auto">
          <a:xfrm>
            <a:off x="1978978" y="260350"/>
            <a:ext cx="41576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Literature Survey…</a:t>
            </a:r>
            <a:r>
              <a:rPr kumimoji="0" lang="en-IN" altLang="en-US" sz="2800" b="1" i="0" u="none" strike="noStrike" kern="1200" cap="none" spc="0" normalizeH="0" baseline="0" noProof="0" dirty="0" err="1">
                <a:ln>
                  <a:noFill/>
                </a:ln>
                <a:solidFill>
                  <a:srgbClr val="0070C0"/>
                </a:solidFill>
                <a:effectLst/>
                <a:uLnTx/>
                <a:uFillTx/>
                <a:latin typeface="Times New Roman" panose="02020603050405020304" pitchFamily="18" charset="0"/>
                <a:ea typeface="+mj-ea"/>
                <a:cs typeface="Times New Roman" panose="02020603050405020304" pitchFamily="18" charset="0"/>
              </a:rPr>
              <a:t>contd</a:t>
            </a:r>
            <a:endPar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sp>
        <p:nvSpPr>
          <p:cNvPr id="13316" name="Rectangle 2"/>
          <p:cNvSpPr/>
          <p:nvPr/>
        </p:nvSpPr>
        <p:spPr>
          <a:xfrm>
            <a:off x="2011680" y="715645"/>
            <a:ext cx="4487545" cy="889000"/>
          </a:xfrm>
          <a:prstGeom prst="rect">
            <a:avLst/>
          </a:prstGeom>
          <a:noFill/>
          <a:ln w="9525">
            <a:noFill/>
          </a:ln>
        </p:spPr>
        <p:txBody>
          <a:bodyPr wrap="none" anchor="ctr" anchorCtr="0">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dirty="0">
                <a:latin typeface="Times New Roman" panose="02020603050405020304" pitchFamily="18" charset="0"/>
                <a:cs typeface="Calibri" panose="020F0502020204030204" pitchFamily="34" charset="0"/>
              </a:rPr>
              <a:t>Table </a:t>
            </a:r>
            <a:r>
              <a:rPr lang="en-IN" altLang="en-US" sz="2000" b="1" dirty="0">
                <a:latin typeface="Times New Roman" panose="02020603050405020304" pitchFamily="18" charset="0"/>
                <a:cs typeface="Calibri" panose="020F0502020204030204" pitchFamily="34" charset="0"/>
              </a:rPr>
              <a:t>3</a:t>
            </a:r>
            <a:r>
              <a:rPr lang="en-US" altLang="en-US" sz="2000" b="1" dirty="0">
                <a:latin typeface="Times New Roman" panose="02020603050405020304" pitchFamily="18" charset="0"/>
                <a:cs typeface="Calibri" panose="020F0502020204030204" pitchFamily="34" charset="0"/>
              </a:rPr>
              <a:t>: Literature Survey Contd</a:t>
            </a:r>
            <a:r>
              <a:rPr lang="en-US" altLang="en-US" sz="2000" b="1" dirty="0">
                <a:latin typeface="Times New Roman" panose="02020603050405020304" pitchFamily="18" charset="0"/>
                <a:ea typeface="Calibri" panose="020F0502020204030204" pitchFamily="34" charset="0"/>
              </a:rPr>
              <a:t>…</a:t>
            </a:r>
            <a:endParaRPr lang="en-US" altLang="en-US" sz="1100" b="1" dirty="0">
              <a:latin typeface="Times New Roman" panose="02020603050405020304" pitchFamily="18" charset="0"/>
              <a:ea typeface="Calibri" panose="020F0502020204030204" pitchFamily="34" charset="0"/>
            </a:endParaRPr>
          </a:p>
        </p:txBody>
      </p:sp>
      <p:graphicFrame>
        <p:nvGraphicFramePr>
          <p:cNvPr id="7" name="Table 6"/>
          <p:cNvGraphicFramePr>
            <a:graphicFrameLocks noGrp="1"/>
          </p:cNvGraphicFramePr>
          <p:nvPr>
            <p:custDataLst>
              <p:tags r:id="rId2"/>
            </p:custDataLst>
          </p:nvPr>
        </p:nvGraphicFramePr>
        <p:xfrm>
          <a:off x="683260" y="1340485"/>
          <a:ext cx="8110855" cy="5009659"/>
        </p:xfrm>
        <a:graphic>
          <a:graphicData uri="http://schemas.openxmlformats.org/drawingml/2006/table">
            <a:tbl>
              <a:tblPr firstRow="1" firstCol="1" bandRow="1"/>
              <a:tblGrid>
                <a:gridCol w="940435"/>
                <a:gridCol w="1831340"/>
                <a:gridCol w="1813560"/>
                <a:gridCol w="1594485"/>
                <a:gridCol w="1931035"/>
              </a:tblGrid>
              <a:tr h="864379">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S. No.</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Paper Details</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Summary</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dirty="0">
                          <a:effectLst/>
                          <a:latin typeface="Times New Roman" panose="02020603050405020304" pitchFamily="18" charset="0"/>
                          <a:ea typeface="Calibri" panose="020F0502020204030204"/>
                          <a:cs typeface="Times New Roman" panose="02020603050405020304" pitchFamily="18" charset="0"/>
                        </a:rPr>
                        <a:t> Used</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Research Gap</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48685">
                <a:tc>
                  <a:txBody>
                    <a:bodyPr/>
                    <a:lstStyle/>
                    <a:p>
                      <a:pPr algn="just">
                        <a:lnSpc>
                          <a:spcPct val="150000"/>
                        </a:lnSpc>
                        <a:spcAft>
                          <a:spcPts val="0"/>
                        </a:spcAft>
                      </a:pPr>
                      <a:r>
                        <a:rPr lang="en-US" sz="1200" b="1">
                          <a:effectLst/>
                          <a:latin typeface="Times New Roman" panose="02020603050405020304" pitchFamily="18" charset="0"/>
                          <a:ea typeface="Calibri" panose="020F0502020204030204"/>
                          <a:cs typeface="Times New Roman" panose="02020603050405020304" pitchFamily="18" charset="0"/>
                        </a:rPr>
                        <a:t> </a:t>
                      </a:r>
                      <a:r>
                        <a:rPr lang="en-IN" altLang="en-US" sz="1200" b="1">
                          <a:effectLst/>
                          <a:latin typeface="Times New Roman" panose="02020603050405020304" pitchFamily="18" charset="0"/>
                          <a:ea typeface="Calibri" panose="020F0502020204030204"/>
                          <a:cs typeface="Times New Roman" panose="02020603050405020304" pitchFamily="18" charset="0"/>
                        </a:rPr>
                        <a:t>3</a:t>
                      </a:r>
                      <a:endParaRPr lang="en-IN" altLang="en-US" sz="12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TITLE</a:t>
                      </a:r>
                      <a:r>
                        <a:rPr lang="en-IN" altLang="en-US" sz="1600" dirty="0">
                          <a:effectLst/>
                          <a:latin typeface="Times New Roman" panose="02020603050405020304" pitchFamily="18" charset="0"/>
                          <a:ea typeface="Calibri" panose="020F0502020204030204"/>
                          <a:cs typeface="Times New Roman" panose="02020603050405020304" pitchFamily="18" charset="0"/>
                        </a:rPr>
                        <a:t>:</a:t>
                      </a:r>
                      <a:r>
                        <a:rPr lang="en-US" altLang="en-US" sz="1600" dirty="0">
                          <a:effectLst/>
                          <a:latin typeface="Times New Roman" panose="02020603050405020304" pitchFamily="18" charset="0"/>
                          <a:ea typeface="Calibri" panose="020F0502020204030204"/>
                          <a:cs typeface="Times New Roman" panose="02020603050405020304" pitchFamily="18" charset="0"/>
                        </a:rPr>
                        <a:t>Enhancing the Security and Privacy in the IoT Supply Chain Using Blockchain and Federated Learning</a:t>
                      </a:r>
                      <a:r>
                        <a:rPr lang="en-IN" altLang="en-US" sz="1600" dirty="0">
                          <a:effectLst/>
                          <a:latin typeface="Times New Roman" panose="02020603050405020304" pitchFamily="18" charset="0"/>
                          <a:ea typeface="Calibri" panose="020F0502020204030204"/>
                          <a:cs typeface="Times New Roman" panose="02020603050405020304" pitchFamily="18" charset="0"/>
                        </a:rPr>
                        <a:t>.</a:t>
                      </a: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AUTHORS:</a:t>
                      </a:r>
                      <a:r>
                        <a:rPr lang="en-US" altLang="en-US" sz="1600" dirty="0">
                          <a:effectLst/>
                          <a:latin typeface="Times New Roman" panose="02020603050405020304" pitchFamily="18" charset="0"/>
                          <a:ea typeface="Calibri" panose="020F0502020204030204"/>
                          <a:cs typeface="Times New Roman" panose="02020603050405020304" pitchFamily="18" charset="0"/>
                        </a:rPr>
                        <a:t>L Zhu, S Hu, X Zhu, C Meng, M Huang </a:t>
                      </a:r>
                      <a:r>
                        <a:rPr lang="en-IN" altLang="en-US" sz="1600" dirty="0">
                          <a:effectLst/>
                          <a:latin typeface="Times New Roman" panose="02020603050405020304" pitchFamily="18" charset="0"/>
                          <a:ea typeface="Calibri" panose="020F0502020204030204"/>
                          <a:cs typeface="Times New Roman" panose="02020603050405020304" pitchFamily="18" charset="0"/>
                        </a:rPr>
                        <a:t>.</a:t>
                      </a: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YEAR: </a:t>
                      </a:r>
                      <a:r>
                        <a:rPr lang="en-IN" altLang="en-US" sz="1600" b="0" dirty="0">
                          <a:effectLst/>
                          <a:latin typeface="Times New Roman" panose="02020603050405020304" pitchFamily="18" charset="0"/>
                          <a:ea typeface="Calibri" panose="020F0502020204030204"/>
                          <a:cs typeface="Times New Roman" panose="02020603050405020304" pitchFamily="18" charset="0"/>
                        </a:rPr>
                        <a:t>2023</a:t>
                      </a:r>
                      <a:endParaRPr lang="en-IN" altLang="en-US" sz="1600" b="1"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rPr>
                        <a:t>The paper presents a blockchain-based federated learning framework to secure IoT supply chains, enabling decentralized model training with improved privacy, traceability, and data integrity.</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Blockchain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Federated Learning</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Smart Contracts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Encryption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High communication and computation overhead</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Limited large-scale real-world deployment</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Scalability and interoperability challenges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Need for stronger defenses against adversarial attacks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3315" name="Rectangle 3"/>
          <p:cNvSpPr>
            <a:spLocks noChangeArrowheads="1"/>
          </p:cNvSpPr>
          <p:nvPr/>
        </p:nvSpPr>
        <p:spPr bwMode="auto">
          <a:xfrm>
            <a:off x="1979613" y="333375"/>
            <a:ext cx="41576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rPr>
              <a:t>Literature Survey…</a:t>
            </a:r>
            <a:r>
              <a:rPr kumimoji="0" lang="en-IN" altLang="en-US" sz="2800" b="1" i="0" u="none" strike="noStrike" kern="1200" cap="none" spc="0" normalizeH="0" baseline="0" noProof="0" dirty="0" err="1">
                <a:ln>
                  <a:noFill/>
                </a:ln>
                <a:solidFill>
                  <a:srgbClr val="0070C0"/>
                </a:solidFill>
                <a:effectLst/>
                <a:uLnTx/>
                <a:uFillTx/>
                <a:latin typeface="Times New Roman" panose="02020603050405020304" pitchFamily="18" charset="0"/>
                <a:ea typeface="+mj-ea"/>
                <a:cs typeface="Times New Roman" panose="02020603050405020304" pitchFamily="18" charset="0"/>
              </a:rPr>
              <a:t>contd</a:t>
            </a:r>
            <a:endParaRPr kumimoji="0" lang="en-I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mj-ea"/>
              <a:cs typeface="Times New Roman" panose="02020603050405020304" pitchFamily="18" charset="0"/>
            </a:endParaRPr>
          </a:p>
        </p:txBody>
      </p:sp>
      <p:sp>
        <p:nvSpPr>
          <p:cNvPr id="13316" name="Rectangle 2"/>
          <p:cNvSpPr/>
          <p:nvPr/>
        </p:nvSpPr>
        <p:spPr>
          <a:xfrm>
            <a:off x="2399030" y="538480"/>
            <a:ext cx="4100195" cy="1066165"/>
          </a:xfrm>
          <a:prstGeom prst="rect">
            <a:avLst/>
          </a:prstGeom>
          <a:noFill/>
          <a:ln w="9525">
            <a:noFill/>
          </a:ln>
        </p:spPr>
        <p:txBody>
          <a:bodyPr wrap="none" anchor="ctr" anchorCtr="0">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dirty="0">
                <a:latin typeface="Times New Roman" panose="02020603050405020304" pitchFamily="18" charset="0"/>
                <a:cs typeface="Calibri" panose="020F0502020204030204" pitchFamily="34" charset="0"/>
              </a:rPr>
              <a:t>Table </a:t>
            </a:r>
            <a:r>
              <a:rPr lang="en-IN" altLang="en-US" sz="2000" b="1" dirty="0">
                <a:latin typeface="Times New Roman" panose="02020603050405020304" pitchFamily="18" charset="0"/>
                <a:cs typeface="Calibri" panose="020F0502020204030204" pitchFamily="34" charset="0"/>
              </a:rPr>
              <a:t>4</a:t>
            </a:r>
            <a:r>
              <a:rPr lang="en-US" altLang="en-US" sz="2000" b="1" dirty="0">
                <a:latin typeface="Times New Roman" panose="02020603050405020304" pitchFamily="18" charset="0"/>
                <a:cs typeface="Calibri" panose="020F0502020204030204" pitchFamily="34" charset="0"/>
              </a:rPr>
              <a:t>: Literature Survey Contd</a:t>
            </a:r>
            <a:r>
              <a:rPr lang="en-US" altLang="en-US" sz="2000" b="1" dirty="0">
                <a:latin typeface="Times New Roman" panose="02020603050405020304" pitchFamily="18" charset="0"/>
                <a:ea typeface="Calibri" panose="020F0502020204030204" pitchFamily="34" charset="0"/>
              </a:rPr>
              <a:t>…</a:t>
            </a:r>
            <a:endParaRPr lang="en-US" altLang="en-US" sz="1100" b="1" dirty="0">
              <a:latin typeface="Times New Roman" panose="02020603050405020304" pitchFamily="18" charset="0"/>
              <a:ea typeface="Calibri" panose="020F0502020204030204" pitchFamily="34" charset="0"/>
            </a:endParaRPr>
          </a:p>
        </p:txBody>
      </p:sp>
      <p:graphicFrame>
        <p:nvGraphicFramePr>
          <p:cNvPr id="7" name="Table 6"/>
          <p:cNvGraphicFramePr>
            <a:graphicFrameLocks noGrp="1"/>
          </p:cNvGraphicFramePr>
          <p:nvPr>
            <p:custDataLst>
              <p:tags r:id="rId2"/>
            </p:custDataLst>
          </p:nvPr>
        </p:nvGraphicFramePr>
        <p:xfrm>
          <a:off x="323215" y="1311275"/>
          <a:ext cx="8538210" cy="5035550"/>
        </p:xfrm>
        <a:graphic>
          <a:graphicData uri="http://schemas.openxmlformats.org/drawingml/2006/table">
            <a:tbl>
              <a:tblPr firstRow="1" firstCol="1" bandRow="1"/>
              <a:tblGrid>
                <a:gridCol w="704850"/>
                <a:gridCol w="2153285"/>
                <a:gridCol w="1819275"/>
                <a:gridCol w="1356995"/>
                <a:gridCol w="2503805"/>
              </a:tblGrid>
              <a:tr h="1097280">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S. No.</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Paper Details</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Summary</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600" b="1" dirty="0">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dirty="0">
                          <a:effectLst/>
                          <a:latin typeface="Times New Roman" panose="02020603050405020304" pitchFamily="18" charset="0"/>
                          <a:ea typeface="Calibri" panose="020F0502020204030204"/>
                          <a:cs typeface="Times New Roman" panose="02020603050405020304" pitchFamily="18" charset="0"/>
                        </a:rPr>
                        <a:t> Used</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anose="02020603050405020304" pitchFamily="18" charset="0"/>
                          <a:ea typeface="Calibri" panose="020F0502020204030204"/>
                          <a:cs typeface="Times New Roman" panose="02020603050405020304" pitchFamily="18" charset="0"/>
                        </a:rPr>
                        <a:t>Research Gap</a:t>
                      </a:r>
                      <a:endParaRPr lang="en-IN" sz="1600" b="1"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38270">
                <a:tc>
                  <a:txBody>
                    <a:bodyPr/>
                    <a:lstStyle/>
                    <a:p>
                      <a:pPr algn="l">
                        <a:lnSpc>
                          <a:spcPct val="100000"/>
                        </a:lnSpc>
                        <a:spcAft>
                          <a:spcPts val="0"/>
                        </a:spcAft>
                      </a:pPr>
                      <a:r>
                        <a:rPr lang="en-US" sz="1200" b="1">
                          <a:effectLst/>
                          <a:latin typeface="Times New Roman" panose="02020603050405020304" pitchFamily="18" charset="0"/>
                          <a:ea typeface="Calibri" panose="020F0502020204030204"/>
                          <a:cs typeface="Times New Roman" panose="02020603050405020304" pitchFamily="18" charset="0"/>
                        </a:rPr>
                        <a:t> </a:t>
                      </a:r>
                      <a:r>
                        <a:rPr lang="en-IN" altLang="en-US" sz="1200" b="1">
                          <a:effectLst/>
                          <a:latin typeface="Times New Roman" panose="02020603050405020304" pitchFamily="18" charset="0"/>
                          <a:ea typeface="Calibri" panose="020F0502020204030204"/>
                          <a:cs typeface="Times New Roman" panose="02020603050405020304" pitchFamily="18" charset="0"/>
                        </a:rPr>
                        <a:t>4</a:t>
                      </a:r>
                      <a:endParaRPr lang="en-IN" altLang="en-US" sz="12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TITLE:</a:t>
                      </a:r>
                      <a:r>
                        <a:rPr lang="en-US" altLang="en-US" sz="1600" dirty="0">
                          <a:effectLst/>
                          <a:latin typeface="Times New Roman" panose="02020603050405020304" pitchFamily="18" charset="0"/>
                          <a:ea typeface="Calibri" panose="020F0502020204030204"/>
                          <a:cs typeface="Times New Roman" panose="02020603050405020304" pitchFamily="18" charset="0"/>
                        </a:rPr>
                        <a:t>Enhancing privacy-preserving intrusion detection through federated learning</a:t>
                      </a:r>
                      <a:r>
                        <a:rPr lang="en-IN" altLang="en-US" sz="1600" dirty="0">
                          <a:effectLst/>
                          <a:latin typeface="Times New Roman" panose="02020603050405020304" pitchFamily="18" charset="0"/>
                          <a:ea typeface="Calibri" panose="020F0502020204030204"/>
                          <a:cs typeface="Times New Roman" panose="02020603050405020304" pitchFamily="18" charset="0"/>
                        </a:rPr>
                        <a:t>.</a:t>
                      </a: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AUTHORS</a:t>
                      </a:r>
                      <a:r>
                        <a:rPr lang="en-IN" altLang="en-US" sz="1600" dirty="0">
                          <a:effectLst/>
                          <a:latin typeface="Times New Roman" panose="02020603050405020304" pitchFamily="18" charset="0"/>
                          <a:ea typeface="Calibri" panose="020F0502020204030204"/>
                          <a:cs typeface="Times New Roman" panose="02020603050405020304" pitchFamily="18" charset="0"/>
                        </a:rPr>
                        <a:t>:</a:t>
                      </a:r>
                      <a:r>
                        <a:rPr lang="en-US" altLang="en-US" sz="1600" dirty="0">
                          <a:effectLst/>
                          <a:latin typeface="Times New Roman" panose="02020603050405020304" pitchFamily="18" charset="0"/>
                          <a:ea typeface="Calibri" panose="020F0502020204030204"/>
                          <a:cs typeface="Times New Roman" panose="02020603050405020304" pitchFamily="18" charset="0"/>
                        </a:rPr>
                        <a:t>A Alazab, A Khraisat, S Singh, T Jan </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r>
                        <a:rPr lang="en-IN" altLang="en-US" sz="1600" b="1" dirty="0">
                          <a:effectLst/>
                          <a:latin typeface="Times New Roman" panose="02020603050405020304" pitchFamily="18" charset="0"/>
                          <a:ea typeface="Calibri" panose="020F0502020204030204"/>
                          <a:cs typeface="Times New Roman" panose="02020603050405020304" pitchFamily="18" charset="0"/>
                        </a:rPr>
                        <a:t>YEAR </a:t>
                      </a:r>
                      <a:r>
                        <a:rPr lang="en-IN" altLang="en-US" sz="1600" dirty="0">
                          <a:effectLst/>
                          <a:latin typeface="Times New Roman" panose="02020603050405020304" pitchFamily="18" charset="0"/>
                          <a:ea typeface="Calibri" panose="020F0502020204030204"/>
                          <a:cs typeface="Times New Roman" panose="02020603050405020304" pitchFamily="18" charset="0"/>
                        </a:rPr>
                        <a:t>: 2023</a:t>
                      </a: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p>
                      <a:pPr algn="l">
                        <a:lnSpc>
                          <a:spcPct val="100000"/>
                        </a:lnSpc>
                        <a:spcAft>
                          <a:spcPts val="0"/>
                        </a:spcAft>
                      </a:pPr>
                      <a:endParaRPr lang="en-IN"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en-US" altLang="en-US" sz="1600" dirty="0">
                          <a:effectLst/>
                          <a:latin typeface="Times New Roman" panose="02020603050405020304" pitchFamily="18" charset="0"/>
                          <a:ea typeface="Calibri" panose="020F0502020204030204"/>
                          <a:cs typeface="Times New Roman" panose="02020603050405020304" pitchFamily="18" charset="0"/>
                        </a:rPr>
                        <a:t>The paper proposes a federated learning framework for privacy-preserving intrusion detection, enabling collaborative model training across distributed networks without sharing raw data, while maintaining high detection accuracy.</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Federated Learning</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Secure Aggregation</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Differential Privacy</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Intrusion Detection Models (e.g., </a:t>
                      </a:r>
                      <a:r>
                        <a:rPr lang="en-US" altLang="en-US" sz="1200" dirty="0">
                          <a:effectLst/>
                          <a:latin typeface="Times New Roman" panose="02020603050405020304" pitchFamily="18" charset="0"/>
                          <a:ea typeface="Calibri" panose="020F0502020204030204"/>
                          <a:cs typeface="Times New Roman" panose="02020603050405020304" pitchFamily="18" charset="0"/>
                        </a:rPr>
                        <a:t>CNN/RNN)</a:t>
                      </a:r>
                      <a:endParaRPr lang="en-US" altLang="en-US" sz="12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High communication and computation overhead</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Limited real-world deployment and scalability</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Vulnerability to adversarial/poisoning attacks</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p>
                      <a:pPr marL="171450" indent="-171450" algn="l">
                        <a:lnSpc>
                          <a:spcPct val="100000"/>
                        </a:lnSpc>
                        <a:spcAft>
                          <a:spcPts val="0"/>
                        </a:spcAft>
                        <a:buFont typeface="Arial" panose="020B0604020202020204" pitchFamily="34" charset="0"/>
                        <a:buChar char="•"/>
                      </a:pPr>
                      <a:r>
                        <a:rPr lang="en-US" altLang="en-US" sz="1600" dirty="0">
                          <a:effectLst/>
                          <a:latin typeface="Times New Roman" panose="02020603050405020304" pitchFamily="18" charset="0"/>
                          <a:ea typeface="Calibri" panose="020F0502020204030204"/>
                          <a:cs typeface="Times New Roman" panose="02020603050405020304" pitchFamily="18" charset="0"/>
                        </a:rPr>
                        <a:t>Need for optimized model and device resource management</a:t>
                      </a:r>
                      <a:endParaRPr lang="en-US" altLang="en-US" sz="1600" dirty="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5364" name="Title 1"/>
          <p:cNvSpPr>
            <a:spLocks noGrp="1"/>
          </p:cNvSpPr>
          <p:nvPr>
            <p:ph type="title"/>
          </p:nvPr>
        </p:nvSpPr>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Problem Statements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 name="Text Box 1"/>
          <p:cNvSpPr txBox="1"/>
          <p:nvPr/>
        </p:nvSpPr>
        <p:spPr>
          <a:xfrm>
            <a:off x="457200" y="1417955"/>
            <a:ext cx="8363272" cy="4696460"/>
          </a:xfrm>
          <a:prstGeom prst="rect">
            <a:avLst/>
          </a:prstGeom>
          <a:noFill/>
        </p:spPr>
        <p:txBody>
          <a:bodyPr wrap="square" rtlCol="0">
            <a:noAutofit/>
          </a:bodyPr>
          <a:lstStyle/>
          <a:p>
            <a:r>
              <a:rPr lang="en-US" altLang="en-US" sz="2000" dirty="0">
                <a:solidFill>
                  <a:schemeClr val="accent2"/>
                </a:solidFill>
                <a:latin typeface="Times New Roman" panose="02020603050405020304" pitchFamily="18" charset="0"/>
                <a:cs typeface="Times New Roman" panose="02020603050405020304" pitchFamily="18" charset="0"/>
              </a:rPr>
              <a:t> </a:t>
            </a:r>
            <a:r>
              <a:rPr lang="en-IN" altLang="en-US" sz="2000" dirty="0">
                <a:solidFill>
                  <a:schemeClr val="accent2"/>
                </a:solidFill>
                <a:latin typeface="Times New Roman" panose="02020603050405020304" pitchFamily="18" charset="0"/>
                <a:cs typeface="Times New Roman" panose="02020603050405020304" pitchFamily="18" charset="0"/>
              </a:rPr>
              <a:t> </a:t>
            </a:r>
            <a:r>
              <a:rPr lang="en-US" altLang="en-US" sz="2000" dirty="0">
                <a:solidFill>
                  <a:schemeClr val="accent2"/>
                </a:solidFill>
                <a:latin typeface="Times New Roman" panose="02020603050405020304" pitchFamily="18" charset="0"/>
                <a:cs typeface="Times New Roman" panose="02020603050405020304" pitchFamily="18" charset="0"/>
              </a:rPr>
              <a:t>Secure &amp; Efficient Multi-Party Aggregation at Scale</a:t>
            </a:r>
            <a:endParaRPr lang="en-US" altLang="en-US" sz="2000" dirty="0">
              <a:solidFill>
                <a:schemeClr val="accent2"/>
              </a:solidFill>
              <a:latin typeface="Times New Roman" panose="02020603050405020304" pitchFamily="18" charset="0"/>
              <a:cs typeface="Times New Roman" panose="02020603050405020304" pitchFamily="18" charset="0"/>
            </a:endParaRPr>
          </a:p>
          <a:p>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Secure aggregation protocols protect individual updates from the central server but introduce significant communication and computation overhead, limiting deployment on bandwidth-constrained or mobile devices.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Goal: Create a lightweight, dropout-resilient secure aggregation scheme that offers strong cryptographic guarantees while reducing computational cost and communication rounds.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Challenge: High bandwidth use, complex key exchanges, and client dropouts slow training.</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Need: A lighter, dropout-resilient protocol that preserves strong cryptographic guarantees with much lower overhead.</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7411" name="Rectangle 2"/>
          <p:cNvSpPr/>
          <p:nvPr/>
        </p:nvSpPr>
        <p:spPr>
          <a:xfrm>
            <a:off x="422275" y="1406525"/>
            <a:ext cx="8280400" cy="4595495"/>
          </a:xfrm>
          <a:prstGeom prst="rect">
            <a:avLst/>
          </a:prstGeom>
          <a:noFill/>
          <a:ln w="9525">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73025" lvl="0" indent="0" eaLnBrk="1" hangingPunct="1">
              <a:spcBef>
                <a:spcPct val="0"/>
              </a:spcBef>
              <a:buFontTx/>
              <a:buNone/>
            </a:pPr>
            <a:endParaRPr lang="en-US" altLang="en-US" sz="2000" b="1" i="1" u="sng" dirty="0">
              <a:latin typeface="Times New Roman" panose="02020603050405020304" pitchFamily="18" charset="0"/>
              <a:ea typeface="Times New Roman" panose="02020603050405020304" pitchFamily="18" charset="0"/>
            </a:endParaRPr>
          </a:p>
        </p:txBody>
      </p:sp>
      <p:sp>
        <p:nvSpPr>
          <p:cNvPr id="17412" name="Title 1"/>
          <p:cNvSpPr>
            <a:spLocks noGrp="1"/>
          </p:cNvSpPr>
          <p:nvPr>
            <p:ph type="title"/>
          </p:nvPr>
        </p:nvSpPr>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Objectives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 name="Text Box 1"/>
          <p:cNvSpPr txBox="1"/>
          <p:nvPr/>
        </p:nvSpPr>
        <p:spPr>
          <a:xfrm>
            <a:off x="551180" y="1406525"/>
            <a:ext cx="8041640" cy="5432425"/>
          </a:xfrm>
          <a:prstGeom prst="rect">
            <a:avLst/>
          </a:prstGeom>
          <a:noFill/>
        </p:spPr>
        <p:txBody>
          <a:bodyPr wrap="square" rtlCol="0">
            <a:noAutofit/>
          </a:bodyPr>
          <a:lstStyle/>
          <a:p>
            <a:pPr marL="285750" indent="-285750">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Lightweight Secure Aggregation</a:t>
            </a:r>
            <a:r>
              <a:rPr lang="en-IN"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One-round additive masking with symmetric keys to cut bandwidth and computation.</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Dropout Resilience: </a:t>
            </a:r>
            <a:r>
              <a:rPr lang="en-US" altLang="en-US" dirty="0">
                <a:latin typeface="Times New Roman" panose="02020603050405020304" pitchFamily="18" charset="0"/>
                <a:cs typeface="Times New Roman" panose="02020603050405020304" pitchFamily="18" charset="0"/>
              </a:rPr>
              <a:t>Threshold secret sharing so the aggregate is recoverable even if clients drop.</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Low Overhead: </a:t>
            </a:r>
            <a:r>
              <a:rPr lang="en-US" altLang="en-US" dirty="0">
                <a:latin typeface="Times New Roman" panose="02020603050405020304" pitchFamily="18" charset="0"/>
                <a:cs typeface="Times New Roman" panose="02020603050405020304" pitchFamily="18" charset="0"/>
              </a:rPr>
              <a:t>Compress/quantize updates before masking to reduce communication.</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Strong Security:</a:t>
            </a:r>
            <a:r>
              <a:rPr lang="en-US" altLang="en-US" dirty="0">
                <a:latin typeface="Times New Roman" panose="02020603050405020304" pitchFamily="18" charset="0"/>
                <a:cs typeface="Times New Roman" panose="02020603050405020304" pitchFamily="18" charset="0"/>
              </a:rPr>
              <a:t> Maintain formal cryptographic guarantees with minimal key-exchange setup.</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Scale to Large Networks: </a:t>
            </a:r>
            <a:r>
              <a:rPr lang="en-US" altLang="en-US" dirty="0">
                <a:latin typeface="Times New Roman" panose="02020603050405020304" pitchFamily="18" charset="0"/>
                <a:cs typeface="Times New Roman" panose="02020603050405020304" pitchFamily="18" charset="0"/>
              </a:rPr>
              <a:t>Support thousands of heterogeneous or mobile devices with hierarchical or asynchronous aggregation.</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Enhance Robustness:</a:t>
            </a:r>
            <a:r>
              <a:rPr lang="en-US" altLang="en-US" dirty="0">
                <a:latin typeface="Times New Roman" panose="02020603050405020304" pitchFamily="18" charset="0"/>
                <a:cs typeface="Times New Roman" panose="02020603050405020304" pitchFamily="18" charset="0"/>
              </a:rPr>
              <a:t> Add privacy-preserving defenses against adversarial or poisoning attacks without increasing overhead.</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9459" name="Title 1"/>
          <p:cNvSpPr>
            <a:spLocks noGrp="1"/>
          </p:cNvSpPr>
          <p:nvPr>
            <p:ph type="title"/>
          </p:nvPr>
        </p:nvSpPr>
        <p:spPr>
          <a:xfrm>
            <a:off x="457200" y="620713"/>
            <a:ext cx="8229600" cy="1143000"/>
          </a:xfrm>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457200" y="1711324"/>
            <a:ext cx="8229600" cy="4525963"/>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Team Lead</a:t>
            </a:r>
            <a:r>
              <a:rPr kumimoji="0" lang="en-I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A.Anitha</a:t>
            </a:r>
            <a:endParaRPr kumimoji="0" lang="en-I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I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Project initiation and Planning.</a:t>
            </a:r>
            <a:endPar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en-US" sz="20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lvl="0" indent="0">
              <a:buNone/>
              <a:defRPr/>
            </a:pPr>
            <a:r>
              <a:rPr kumimoji="0" lang="en-US"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Tasks:</a:t>
            </a:r>
            <a:r>
              <a:rPr lang="en-US" altLang="en-US" sz="2000" dirty="0">
                <a:latin typeface="Times New Roman" panose="02020603050405020304" pitchFamily="18" charset="0"/>
                <a:cs typeface="Times New Roman" panose="02020603050405020304" pitchFamily="18" charset="0"/>
              </a:rPr>
              <a:t>Defining project scope, setting objectives, preparing a project plan, allocating resources, identifying risks, and scheduling milestones.</a:t>
            </a:r>
            <a:endParaRPr lang="en-US" altLang="en-US" sz="2000" dirty="0">
              <a:latin typeface="Times New Roman" panose="02020603050405020304" pitchFamily="18" charset="0"/>
              <a:cs typeface="Times New Roman" panose="02020603050405020304" pitchFamily="18" charset="0"/>
            </a:endParaRPr>
          </a:p>
          <a:p>
            <a:pPr marL="0" lvl="0" indent="0">
              <a:buNone/>
              <a:defRPr/>
            </a:pPr>
            <a:endParaRPr kumimoji="0" lang="en-US" altLang="en-US" sz="20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lvl="0" indent="0">
              <a:buNone/>
              <a:defRPr/>
            </a:pPr>
            <a:r>
              <a:rPr kumimoji="0" lang="en-US"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Elaboration:</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This member ensures smooth initiation of the project, clear planning, and coordination among team members to achieve project goals.</a:t>
            </a:r>
            <a:endParaRPr kumimoji="0" lang="en-US" altLang="en-US" sz="20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0483" name="Title 1"/>
          <p:cNvSpPr>
            <a:spLocks noGrp="1"/>
          </p:cNvSpPr>
          <p:nvPr>
            <p:ph type="title"/>
          </p:nvPr>
        </p:nvSpPr>
        <p:spPr>
          <a:xfrm>
            <a:off x="457200" y="620713"/>
            <a:ext cx="8229600" cy="1143000"/>
          </a:xfrm>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0484" name="Content Placeholder 2"/>
          <p:cNvSpPr>
            <a:spLocks noGrp="1"/>
          </p:cNvSpPr>
          <p:nvPr>
            <p:ph idx="1"/>
          </p:nvPr>
        </p:nvSpPr>
        <p:spPr>
          <a:xfrm>
            <a:off x="248285" y="1554480"/>
            <a:ext cx="8438515" cy="5043805"/>
          </a:xfrm>
        </p:spPr>
        <p:txBody>
          <a:bodyPr vert="horz" wrap="square" lIns="91440" tIns="45720" rIns="91440" bIns="45720" anchor="t" anchorCtr="0"/>
          <a:lstStyle/>
          <a:p>
            <a:pPr marL="0" indent="0">
              <a:buNone/>
            </a:pPr>
            <a:r>
              <a:rPr lang="en-IN" altLang="en-US" b="1" dirty="0">
                <a:latin typeface="Times New Roman" panose="02020603050405020304" pitchFamily="18" charset="0"/>
                <a:ea typeface="Times New Roman" panose="02020603050405020304" pitchFamily="18" charset="0"/>
                <a:cs typeface="Times New Roman" panose="02020603050405020304" pitchFamily="18" charset="0"/>
              </a:rPr>
              <a:t> TM2- V.Niranjan</a:t>
            </a:r>
            <a:endParaRPr lang="en-IN" altLang="en-US"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Project Documentation, Presentation,                       Evaluation</a:t>
            </a:r>
            <a:r>
              <a:rPr lang="en-IN" altLang="en-US" b="1" dirty="0">
                <a:latin typeface="Times New Roman" panose="02020603050405020304" pitchFamily="18" charset="0"/>
                <a:ea typeface="Times New Roman" panose="02020603050405020304" pitchFamily="18" charset="0"/>
                <a:cs typeface="Times New Roman" panose="02020603050405020304" pitchFamily="18" charset="0"/>
              </a:rPr>
              <a:t> &amp; Closure.</a:t>
            </a:r>
            <a:endParaRPr lang="en-IN" altLang="en-US"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Documentation</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 Prepare user manuals, technical reports, and record methodology</a:t>
            </a:r>
            <a:r>
              <a:rPr lang="en-IN"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Presentation &amp; Evaluation</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Create slides, demonstrate the project, and answer queries during evaluation.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Closure</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Summarize lessons learned, release resources, and formally close the project.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Elaboration</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This member ensures knowledge is recorded, the project is communicated effectively, and proper closure is do</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ne.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ext Box 1"/>
          <p:cNvSpPr txBox="1"/>
          <p:nvPr/>
        </p:nvSpPr>
        <p:spPr>
          <a:xfrm>
            <a:off x="3123565" y="4035425"/>
            <a:ext cx="3048000" cy="368300"/>
          </a:xfrm>
          <a:prstGeom prst="rect">
            <a:avLst/>
          </a:prstGeom>
          <a:noFill/>
        </p:spPr>
        <p:txBody>
          <a:bodyPr wrap="square" rtlCol="0">
            <a:sp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2531" name="Title 1"/>
          <p:cNvSpPr>
            <a:spLocks noGrp="1"/>
          </p:cNvSpPr>
          <p:nvPr>
            <p:ph type="title"/>
          </p:nvPr>
        </p:nvSpPr>
        <p:spPr>
          <a:xfrm>
            <a:off x="457200" y="620713"/>
            <a:ext cx="8229600" cy="1143000"/>
          </a:xfrm>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2532" name="Content Placeholder 2"/>
          <p:cNvSpPr>
            <a:spLocks noGrp="1"/>
          </p:cNvSpPr>
          <p:nvPr>
            <p:ph idx="1"/>
          </p:nvPr>
        </p:nvSpPr>
        <p:spPr/>
        <p:txBody>
          <a:bodyPr vert="horz" wrap="square" lIns="91440" tIns="45720" rIns="91440" bIns="45720" anchor="t" anchorCtr="0"/>
          <a:lstStyle/>
          <a:p>
            <a:pPr marL="0" indent="0">
              <a:buNone/>
            </a:pPr>
            <a:r>
              <a:rPr lang="en-US" altLang="en-US" b="1" dirty="0">
                <a:latin typeface="Times New Roman" panose="02020603050405020304" pitchFamily="18" charset="0"/>
                <a:cs typeface="Times New Roman" panose="02020603050405020304" pitchFamily="18" charset="0"/>
              </a:rPr>
              <a:t>TM</a:t>
            </a:r>
            <a:r>
              <a:rPr lang="en-IN" altLang="en-US" b="1" dirty="0">
                <a:latin typeface="Times New Roman" panose="02020603050405020304" pitchFamily="18" charset="0"/>
                <a:cs typeface="Times New Roman" panose="02020603050405020304" pitchFamily="18" charset="0"/>
              </a:rPr>
              <a:t>3-G.B Namitha</a:t>
            </a:r>
            <a:endParaRPr lang="en-IN" altLang="en-US" b="1" dirty="0">
              <a:latin typeface="Times New Roman" panose="02020603050405020304" pitchFamily="18" charset="0"/>
              <a:cs typeface="Times New Roman" panose="02020603050405020304" pitchFamily="18" charset="0"/>
            </a:endParaRPr>
          </a:p>
          <a:p>
            <a:pPr marL="0" indent="0">
              <a:buNone/>
            </a:pPr>
            <a:r>
              <a:rPr lang="en-IN" altLang="en-US" b="1" dirty="0">
                <a:latin typeface="Times New Roman" panose="02020603050405020304" pitchFamily="18" charset="0"/>
                <a:cs typeface="Times New Roman" panose="02020603050405020304" pitchFamily="18" charset="0"/>
              </a:rPr>
              <a:t>Project Design and Development</a:t>
            </a:r>
            <a:endParaRPr lang="en-IN" altLang="en-US" b="1" dirty="0">
              <a:latin typeface="Times New Roman" panose="02020603050405020304" pitchFamily="18" charset="0"/>
              <a:cs typeface="Times New Roman" panose="02020603050405020304" pitchFamily="18" charset="0"/>
            </a:endParaRPr>
          </a:p>
          <a:p>
            <a:pPr marL="0" indent="0">
              <a:buNone/>
            </a:pPr>
            <a:endParaRPr lang="en-IN" altLang="en-US" b="1"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Tasks</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Define project objectives, scope, and deliverables. Identify stakeholders and project requirements. Conduct feasibility analysis and risk assessment.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Elaboration</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This member ensures the project has a clear goal and roadmap before starting, including understanding client/user needs and potential constraints.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2531" name="Title 1"/>
          <p:cNvSpPr>
            <a:spLocks noGrp="1"/>
          </p:cNvSpPr>
          <p:nvPr>
            <p:ph type="title"/>
          </p:nvPr>
        </p:nvSpPr>
        <p:spPr>
          <a:xfrm>
            <a:off x="457200" y="620713"/>
            <a:ext cx="8229600" cy="1143000"/>
          </a:xfrm>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2532" name="Content Placeholder 2"/>
          <p:cNvSpPr>
            <a:spLocks noGrp="1"/>
          </p:cNvSpPr>
          <p:nvPr>
            <p:ph idx="1"/>
          </p:nvPr>
        </p:nvSpPr>
        <p:spPr/>
        <p:txBody>
          <a:bodyPr vert="horz" wrap="square" lIns="91440" tIns="45720" rIns="91440" bIns="45720" anchor="t" anchorCtr="0"/>
          <a:lstStyle/>
          <a:p>
            <a:pPr marL="0" indent="0">
              <a:buNone/>
            </a:pPr>
            <a:r>
              <a:rPr lang="en-US" altLang="en-US" b="1" dirty="0">
                <a:latin typeface="Times New Roman" panose="02020603050405020304" pitchFamily="18" charset="0"/>
                <a:cs typeface="Times New Roman" panose="02020603050405020304" pitchFamily="18" charset="0"/>
              </a:rPr>
              <a:t>TM4</a:t>
            </a:r>
            <a:r>
              <a:rPr lang="en-IN" altLang="en-US" b="1" dirty="0">
                <a:latin typeface="Times New Roman" panose="02020603050405020304" pitchFamily="18" charset="0"/>
                <a:cs typeface="Times New Roman" panose="02020603050405020304" pitchFamily="18" charset="0"/>
              </a:rPr>
              <a:t>-</a:t>
            </a:r>
            <a:r>
              <a:rPr lang="it-IT" altLang="en-US"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r>
              <a:rPr lang="en-IN" altLang="it-IT"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C.PURUSHOTHAM SAI</a:t>
            </a:r>
            <a:r>
              <a:rPr lang="en-US" altLang="en-US"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           </a:t>
            </a:r>
            <a:endParaRPr lang="en-IN" altLang="en-US" b="1" dirty="0">
              <a:latin typeface="Times New Roman" panose="02020603050405020304" pitchFamily="18" charset="0"/>
              <a:cs typeface="Times New Roman" panose="02020603050405020304" pitchFamily="18" charset="0"/>
            </a:endParaRPr>
          </a:p>
          <a:p>
            <a:pPr marL="0" indent="0">
              <a:buNone/>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Testing &amp; Validation</a:t>
            </a:r>
            <a:endParaRPr lang="en-US" altLang="en-US"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Tasks</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Develop test cases, perform unit and integration testing, validate model accuracy, security, and privacy measures. Report bugs and suggest improvements.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Elaboration</a:t>
            </a:r>
            <a:r>
              <a:rPr lang="en-IN"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This member ensures the project meets functional and performance requirements, emphasizing reliability and security.</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74638"/>
            <a:ext cx="8229600" cy="706437"/>
          </a:xfrm>
        </p:spPr>
        <p:txBody>
          <a:bodyPr vert="horz" wrap="square" lIns="91440" tIns="45720" rIns="91440" bIns="45720" anchor="ctr" anchorCtr="0"/>
          <a:lstStyle/>
          <a:p>
            <a:pPr>
              <a:buNone/>
            </a:pPr>
            <a:r>
              <a:rPr lang="en-IN" altLang="en-US" sz="2800" b="1" dirty="0">
                <a:solidFill>
                  <a:srgbClr val="0070C0"/>
                </a:solidFill>
                <a:latin typeface="Times New Roman" panose="02020603050405020304" pitchFamily="18" charset="0"/>
                <a:cs typeface="Times New Roman" panose="02020603050405020304" pitchFamily="18" charset="0"/>
              </a:rPr>
              <a:t>Timeline &amp; Milestones (Gantt Chart)</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5603"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457200" y="1196752"/>
            <a:ext cx="8229600" cy="4929411"/>
          </a:xfrm>
        </p:spPr>
        <p:txBody>
          <a:bodyPr/>
          <a:lstStyle/>
          <a:p>
            <a:pPr marL="0" indent="0">
              <a:buNone/>
            </a:pPr>
            <a:r>
              <a:rPr lang="en-US" dirty="0"/>
              <a:t>                 </a:t>
            </a:r>
            <a:r>
              <a:rPr lang="en-US" sz="2400" b="1" dirty="0">
                <a:latin typeface="Times New Roman" panose="02020603050405020304" pitchFamily="18" charset="0"/>
                <a:cs typeface="Times New Roman" panose="02020603050405020304" pitchFamily="18" charset="0"/>
              </a:rPr>
              <a:t>capstone project Gantt Chart</a:t>
            </a:r>
            <a:endParaRPr lang="en-US" sz="2400" b="1" dirty="0">
              <a:latin typeface="Times New Roman" panose="02020603050405020304" pitchFamily="18" charset="0"/>
              <a:cs typeface="Times New Roman" panose="02020603050405020304" pitchFamily="18" charset="0"/>
            </a:endParaRPr>
          </a:p>
        </p:txBody>
      </p:sp>
      <p:pic>
        <p:nvPicPr>
          <p:cNvPr id="3" name="Picture 2" descr="Screenshot 2025-09-19 154914"/>
          <p:cNvPicPr>
            <a:picLocks noChangeAspect="1"/>
          </p:cNvPicPr>
          <p:nvPr/>
        </p:nvPicPr>
        <p:blipFill>
          <a:blip r:embed="rId1"/>
          <a:stretch>
            <a:fillRect/>
          </a:stretch>
        </p:blipFill>
        <p:spPr>
          <a:xfrm>
            <a:off x="227331" y="2528570"/>
            <a:ext cx="8671277" cy="31326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8676" name="Title 1"/>
          <p:cNvSpPr>
            <a:spLocks noGrp="1"/>
          </p:cNvSpPr>
          <p:nvPr>
            <p:ph type="title"/>
          </p:nvPr>
        </p:nvSpPr>
        <p:spPr/>
        <p:txBody>
          <a:bodyPr vert="horz" wrap="square" lIns="91440" tIns="45720" rIns="91440" bIns="45720" anchor="ctr" anchorCtr="0"/>
          <a:lstStyle/>
          <a:p>
            <a:pPr>
              <a:buNone/>
            </a:pPr>
            <a:r>
              <a:rPr lang="en-US" altLang="en-US" sz="2800" b="1" dirty="0">
                <a:solidFill>
                  <a:srgbClr val="0070C0"/>
                </a:solidFill>
                <a:latin typeface="Times New Roman" panose="02020603050405020304" pitchFamily="18" charset="0"/>
                <a:cs typeface="Times New Roman" panose="02020603050405020304" pitchFamily="18" charset="0"/>
              </a:rPr>
              <a:t>Conclusion</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3" name="Text Box 2"/>
          <p:cNvSpPr txBox="1"/>
          <p:nvPr/>
        </p:nvSpPr>
        <p:spPr>
          <a:xfrm>
            <a:off x="323528" y="1124744"/>
            <a:ext cx="8363272" cy="5184353"/>
          </a:xfrm>
          <a:prstGeom prst="rect">
            <a:avLst/>
          </a:prstGeom>
          <a:noFill/>
        </p:spPr>
        <p:txBody>
          <a:bodyPr wrap="square" rtlCol="0">
            <a:noAutofit/>
          </a:bodyPr>
          <a:lstStyle/>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Successfully implemented a secure Federated Learning system that keeps client data private and decentralized.</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Ensured trustworthy updates by using digital signatures to verify the authenticity and integrity of each client contribution.</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Developed a federated logistic regression model that performs reliably and maintains robustness even with multiple participants.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Enhanced privacy and security, protecting the system from unauthorized access, data leakage, and potential attacks.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Demonstrated the practical applicability of secure FL in sensitive domains such as healthcare, finance, and IoT devices.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Highlighted key strategies and best practices for deploying secure, privacy-preserving collaborative learning systems in real-world scenarios.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8676" name="Title 1"/>
          <p:cNvSpPr>
            <a:spLocks noGrp="1"/>
          </p:cNvSpPr>
          <p:nvPr>
            <p:ph type="title"/>
          </p:nvPr>
        </p:nvSpPr>
        <p:spPr>
          <a:xfrm>
            <a:off x="60325" y="274955"/>
            <a:ext cx="8626475" cy="1143000"/>
          </a:xfrm>
        </p:spPr>
        <p:txBody>
          <a:bodyPr vert="horz" wrap="square" lIns="91440" tIns="45720" rIns="91440" bIns="45720" anchor="ctr" anchorCtr="0"/>
          <a:lstStyle/>
          <a:p>
            <a:pPr>
              <a:buNone/>
            </a:pPr>
            <a:r>
              <a:rPr lang="en-IN" altLang="en-US" sz="2800" b="1" dirty="0">
                <a:solidFill>
                  <a:srgbClr val="0070C0"/>
                </a:solidFill>
                <a:latin typeface="Times New Roman" panose="02020603050405020304" pitchFamily="18" charset="0"/>
                <a:ea typeface="Times New Roman" panose="02020603050405020304" pitchFamily="18" charset="0"/>
              </a:rPr>
              <a:t>References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3" name="Text Box 2"/>
          <p:cNvSpPr txBox="1"/>
          <p:nvPr/>
        </p:nvSpPr>
        <p:spPr>
          <a:xfrm>
            <a:off x="1042670" y="1261110"/>
            <a:ext cx="7016750" cy="4805680"/>
          </a:xfrm>
          <a:prstGeom prst="rect">
            <a:avLst/>
          </a:prstGeom>
          <a:noFill/>
        </p:spPr>
        <p:txBody>
          <a:bodyPr wrap="square" rtlCol="0">
            <a:noAutofit/>
          </a:bodyPr>
          <a:lstStyle/>
          <a:p>
            <a:pPr algn="just"/>
            <a:endParaRPr lang="en-US" altLang="en-US">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2"/>
            </p:custDataLst>
          </p:nvPr>
        </p:nvGraphicFramePr>
        <p:xfrm>
          <a:off x="640080" y="1418590"/>
          <a:ext cx="7863840" cy="6886574"/>
        </p:xfrm>
        <a:graphic>
          <a:graphicData uri="http://schemas.openxmlformats.org/drawingml/2006/table">
            <a:tbl>
              <a:tblPr/>
              <a:tblGrid>
                <a:gridCol w="7863840"/>
              </a:tblGrid>
              <a:tr h="2996565">
                <a:tc>
                  <a:txBody>
                    <a:bodyPr/>
                    <a:lstStyle/>
                    <a:p>
                      <a:pPr marL="0" indent="0" fontAlgn="t">
                        <a:spcBef>
                          <a:spcPct val="0"/>
                        </a:spcBef>
                        <a:spcAft>
                          <a:spcPct val="0"/>
                        </a:spcAft>
                      </a:pPr>
                      <a:r>
                        <a:rPr lang="en-IN" sz="1800" b="0" i="0">
                          <a:solidFill>
                            <a:srgbClr val="222222"/>
                          </a:solidFill>
                          <a:latin typeface="Arial" panose="020B0604020202020204"/>
                          <a:ea typeface="Arial" panose="020B0604020202020204"/>
                        </a:rPr>
                        <a:t>[1]  </a:t>
                      </a:r>
                      <a:r>
                        <a:rPr sz="1800" b="0" i="0">
                          <a:solidFill>
                            <a:srgbClr val="222222"/>
                          </a:solidFill>
                          <a:latin typeface="Arial" panose="020B0604020202020204"/>
                          <a:ea typeface="Arial" panose="020B0604020202020204"/>
                        </a:rPr>
                        <a:t>Cui, L., Qu, Y., Xie, G., Zeng, D., Li, R., Shen, S., &amp; Yu, S. (2021). Security and privacy-enhanced federated learning for anomaly detection in IoT infrastructures. </a:t>
                      </a:r>
                      <a:r>
                        <a:rPr sz="1800" b="0" i="1">
                          <a:solidFill>
                            <a:srgbClr val="222222"/>
                          </a:solidFill>
                          <a:latin typeface="Arial" panose="020B0604020202020204"/>
                          <a:ea typeface="Arial" panose="020B0604020202020204"/>
                        </a:rPr>
                        <a:t>IEEE Transactions on Industrial Informatics</a:t>
                      </a:r>
                      <a:r>
                        <a:rPr sz="1800" b="0" i="0">
                          <a:solidFill>
                            <a:srgbClr val="222222"/>
                          </a:solidFill>
                          <a:latin typeface="Arial" panose="020B0604020202020204"/>
                          <a:ea typeface="Arial" panose="020B0604020202020204"/>
                        </a:rPr>
                        <a:t>, </a:t>
                      </a:r>
                      <a:r>
                        <a:rPr sz="1800" b="0" i="1">
                          <a:solidFill>
                            <a:srgbClr val="222222"/>
                          </a:solidFill>
                          <a:latin typeface="Arial" panose="020B0604020202020204"/>
                          <a:ea typeface="Arial" panose="020B0604020202020204"/>
                        </a:rPr>
                        <a:t>18</a:t>
                      </a:r>
                      <a:r>
                        <a:rPr sz="1800" b="0" i="0">
                          <a:solidFill>
                            <a:srgbClr val="222222"/>
                          </a:solidFill>
                          <a:latin typeface="Arial" panose="020B0604020202020204"/>
                          <a:ea typeface="Arial" panose="020B0604020202020204"/>
                        </a:rPr>
                        <a:t>(5), 3492-3500</a:t>
                      </a:r>
                      <a:endParaRPr sz="1800" b="0" i="0">
                        <a:solidFill>
                          <a:srgbClr val="222222"/>
                        </a:solidFill>
                        <a:latin typeface="Arial" panose="020B0604020202020204"/>
                        <a:ea typeface="Arial" panose="020B0604020202020204"/>
                      </a:endParaRPr>
                    </a:p>
                    <a:p>
                      <a:pPr marL="0" indent="0" fontAlgn="t">
                        <a:spcBef>
                          <a:spcPct val="0"/>
                        </a:spcBef>
                        <a:spcAft>
                          <a:spcPct val="0"/>
                        </a:spcAft>
                      </a:pPr>
                      <a:endParaRPr sz="1800" b="0" i="0">
                        <a:solidFill>
                          <a:srgbClr val="222222"/>
                        </a:solidFill>
                        <a:latin typeface="Arial" panose="020B0604020202020204"/>
                        <a:ea typeface="Arial" panose="020B0604020202020204"/>
                      </a:endParaRPr>
                    </a:p>
                    <a:p>
                      <a:pPr marL="0" indent="0" fontAlgn="t">
                        <a:spcBef>
                          <a:spcPct val="0"/>
                        </a:spcBef>
                        <a:spcAft>
                          <a:spcPct val="0"/>
                        </a:spcAft>
                      </a:pPr>
                      <a:r>
                        <a:rPr lang="en-IN" sz="1800" b="0" i="0">
                          <a:solidFill>
                            <a:srgbClr val="222222"/>
                          </a:solidFill>
                          <a:latin typeface="Arial" panose="020B0604020202020204"/>
                          <a:ea typeface="Arial" panose="020B0604020202020204"/>
                        </a:rPr>
                        <a:t>[2] </a:t>
                      </a:r>
                      <a:r>
                        <a:rPr lang="en-US" altLang="en-US" sz="1800" b="0" i="0">
                          <a:solidFill>
                            <a:srgbClr val="222222"/>
                          </a:solidFill>
                          <a:latin typeface="Arial" panose="020B0604020202020204"/>
                          <a:ea typeface="Arial" panose="020B0604020202020204"/>
                        </a:rPr>
                        <a:t>Ullah, F., Nadeem, M., Abrar, M., Amin, F., Salam, A., &amp; Khan, S. (2023). Enhancing Brain Tumor Segmentation Accuracy through Scalable Federated Learning with Advanced Data Privacy and Security Measures. Mathematics, 11(19), 4189. https://doi.org/10.3390/math11194189</a:t>
                      </a:r>
                      <a:r>
                        <a:rPr sz="1800" b="0" i="0">
                          <a:solidFill>
                            <a:srgbClr val="222222"/>
                          </a:solidFill>
                          <a:latin typeface="Arial" panose="020B0604020202020204"/>
                          <a:ea typeface="Arial" panose="020B0604020202020204"/>
                        </a:rPr>
                        <a:t>.</a:t>
                      </a:r>
                      <a:endParaRPr sz="1800" b="0" i="0">
                        <a:solidFill>
                          <a:srgbClr val="222222"/>
                        </a:solidFill>
                        <a:latin typeface="Arial" panose="020B0604020202020204"/>
                        <a:ea typeface="Arial" panose="020B0604020202020204"/>
                      </a:endParaRPr>
                    </a:p>
                    <a:p>
                      <a:pPr marL="0" indent="0" fontAlgn="t">
                        <a:spcBef>
                          <a:spcPct val="0"/>
                        </a:spcBef>
                        <a:spcAft>
                          <a:spcPct val="0"/>
                        </a:spcAft>
                      </a:pPr>
                      <a:endParaRPr sz="1800" b="0" i="0">
                        <a:solidFill>
                          <a:srgbClr val="222222"/>
                        </a:solidFill>
                        <a:latin typeface="Arial" panose="020B0604020202020204"/>
                        <a:ea typeface="Arial" panose="020B0604020202020204"/>
                      </a:endParaRPr>
                    </a:p>
                    <a:p>
                      <a:pPr marL="0" indent="0" fontAlgn="t">
                        <a:spcBef>
                          <a:spcPct val="0"/>
                        </a:spcBef>
                        <a:spcAft>
                          <a:spcPct val="0"/>
                        </a:spcAft>
                      </a:pPr>
                      <a:r>
                        <a:rPr lang="en-IN" sz="1800" b="0" i="0">
                          <a:solidFill>
                            <a:srgbClr val="222222"/>
                          </a:solidFill>
                          <a:latin typeface="Arial" panose="020B0604020202020204"/>
                          <a:ea typeface="Arial" panose="020B0604020202020204"/>
                        </a:rPr>
                        <a:t>[3] </a:t>
                      </a:r>
                      <a:r>
                        <a:rPr lang="en-US" altLang="en-US" sz="1800" b="0" i="0">
                          <a:solidFill>
                            <a:srgbClr val="222222"/>
                          </a:solidFill>
                          <a:latin typeface="Arial" panose="020B0604020202020204"/>
                          <a:ea typeface="Arial" panose="020B0604020202020204"/>
                        </a:rPr>
                        <a:t>Zhu, L., Hu, S., Zhu, X., Meng, C., &amp; Huang, M. (2023). Enhancing the security and privacy in the IoT supply chain using blockchain and federated learning with trusted execution environment. Mathematics, 11(17), 3759.</a:t>
                      </a:r>
                      <a:endParaRPr lang="en-US" altLang="en-US" sz="1800" b="0" i="0">
                        <a:solidFill>
                          <a:srgbClr val="222222"/>
                        </a:solidFill>
                        <a:latin typeface="Arial" panose="020B0604020202020204"/>
                        <a:ea typeface="Arial" panose="020B0604020202020204"/>
                      </a:endParaRPr>
                    </a:p>
                    <a:p>
                      <a:pPr marL="0" indent="0" fontAlgn="t">
                        <a:spcBef>
                          <a:spcPct val="0"/>
                        </a:spcBef>
                        <a:spcAft>
                          <a:spcPct val="0"/>
                        </a:spcAft>
                      </a:pPr>
                      <a:endParaRPr lang="en-US" altLang="en-US" sz="1800" b="0" i="0">
                        <a:solidFill>
                          <a:srgbClr val="222222"/>
                        </a:solidFill>
                        <a:latin typeface="Arial" panose="020B0604020202020204"/>
                        <a:ea typeface="Arial" panose="020B0604020202020204"/>
                      </a:endParaRPr>
                    </a:p>
                    <a:p>
                      <a:pPr marL="0" indent="0" fontAlgn="t">
                        <a:spcBef>
                          <a:spcPct val="0"/>
                        </a:spcBef>
                        <a:spcAft>
                          <a:spcPct val="0"/>
                        </a:spcAft>
                      </a:pPr>
                      <a:r>
                        <a:rPr lang="en-IN" altLang="en-US" sz="1800" b="0" i="0">
                          <a:solidFill>
                            <a:srgbClr val="222222"/>
                          </a:solidFill>
                          <a:latin typeface="Arial" panose="020B0604020202020204"/>
                          <a:ea typeface="Arial" panose="020B0604020202020204"/>
                        </a:rPr>
                        <a:t>[4] </a:t>
                      </a:r>
                      <a:r>
                        <a:rPr lang="en-US" altLang="en-US" sz="1800" b="0" i="0">
                          <a:solidFill>
                            <a:srgbClr val="222222"/>
                          </a:solidFill>
                          <a:latin typeface="Arial" panose="020B0604020202020204"/>
                          <a:ea typeface="Arial" panose="020B0604020202020204"/>
                        </a:rPr>
                        <a:t>Alazab, A., Khraisat, A., Singh, S., &amp; Jan, T. (2023). Enhancing privacy-preserving intrusion detection through federated learning. Electronics, 12(16), 3382.</a:t>
                      </a:r>
                      <a:endParaRPr lang="en-US" altLang="en-US" sz="1800" b="0" i="0">
                        <a:solidFill>
                          <a:srgbClr val="222222"/>
                        </a:solidFill>
                        <a:latin typeface="Arial" panose="020B0604020202020204"/>
                        <a:ea typeface="Arial" panose="020B0604020202020204"/>
                      </a:endParaRPr>
                    </a:p>
                    <a:p>
                      <a:pPr marL="0" indent="0" fontAlgn="t">
                        <a:spcBef>
                          <a:spcPct val="0"/>
                        </a:spcBef>
                        <a:spcAft>
                          <a:spcPct val="0"/>
                        </a:spcAft>
                      </a:pPr>
                      <a:endParaRPr lang="en-IN" sz="1800" b="0" i="0">
                        <a:solidFill>
                          <a:srgbClr val="222222"/>
                        </a:solidFill>
                        <a:latin typeface="Arial" panose="020B0604020202020204"/>
                        <a:ea typeface="Arial" panose="020B0604020202020204"/>
                      </a:endParaRPr>
                    </a:p>
                  </a:txBody>
                  <a:tcPr marL="0" marR="0" marT="51117" marB="51117">
                    <a:lnL>
                      <a:noFill/>
                    </a:lnL>
                    <a:lnR>
                      <a:noFill/>
                    </a:lnR>
                    <a:lnT>
                      <a:noFill/>
                    </a:lnT>
                    <a:lnB>
                      <a:noFill/>
                    </a:lnB>
                    <a:noFill/>
                  </a:tcPr>
                </a:tc>
              </a:tr>
              <a:tr h="1846580">
                <a:tc>
                  <a:txBody>
                    <a:bodyPr/>
                    <a:lstStyle/>
                    <a:p>
                      <a:pPr marL="0" indent="0" fontAlgn="t"/>
                      <a:endParaRPr sz="1800" b="0" i="0">
                        <a:solidFill>
                          <a:srgbClr val="222222"/>
                        </a:solidFill>
                        <a:latin typeface="Arial" panose="020B0604020202020204"/>
                        <a:ea typeface="Arial" panose="020B0604020202020204"/>
                      </a:endParaRPr>
                    </a:p>
                  </a:txBody>
                  <a:tcPr marL="0" marR="0" marT="51117" marB="51117">
                    <a:lnL>
                      <a:noFill/>
                    </a:lnL>
                    <a:lnR>
                      <a:noFill/>
                    </a:lnR>
                    <a:lnT>
                      <a:noFill/>
                    </a:lnT>
                    <a:lnB>
                      <a:noFill/>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8676" name="Title 1"/>
          <p:cNvSpPr>
            <a:spLocks noGrp="1"/>
          </p:cNvSpPr>
          <p:nvPr>
            <p:ph type="title"/>
          </p:nvPr>
        </p:nvSpPr>
        <p:spPr/>
        <p:txBody>
          <a:bodyPr vert="horz" wrap="square" lIns="91440" tIns="45720" rIns="91440" bIns="45720" anchor="ctr" anchorCtr="0"/>
          <a:lstStyle/>
          <a:p>
            <a:pPr>
              <a:buNone/>
            </a:pP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3" name="Text Box 2"/>
          <p:cNvSpPr txBox="1"/>
          <p:nvPr/>
        </p:nvSpPr>
        <p:spPr>
          <a:xfrm>
            <a:off x="323528" y="1124744"/>
            <a:ext cx="8363272" cy="5184353"/>
          </a:xfrm>
          <a:prstGeom prst="rect">
            <a:avLst/>
          </a:prstGeom>
          <a:noFill/>
        </p:spPr>
        <p:txBody>
          <a:bodyPr wrap="square" rtlCol="0">
            <a:noAutofit/>
          </a:bodyPr>
          <a:lstStyle/>
          <a:p>
            <a:pPr algn="just">
              <a:lnSpc>
                <a:spcPct val="150000"/>
              </a:lnSpc>
              <a:buFont typeface="Arial" panose="020B0604020202020204" pitchFamily="34" charset="0"/>
            </a:pPr>
            <a:endParaRPr lang="en-IN" altLang="en-US" sz="4000" b="1"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pPr>
            <a:endParaRPr lang="en-IN" altLang="en-US" sz="4000" b="1"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pPr>
            <a:r>
              <a:rPr lang="en-IN" altLang="en-US" sz="4000" b="1" dirty="0">
                <a:solidFill>
                  <a:schemeClr val="accent1"/>
                </a:solidFill>
                <a:latin typeface="Times New Roman" panose="02020603050405020304" pitchFamily="18" charset="0"/>
                <a:cs typeface="Times New Roman" panose="02020603050405020304" pitchFamily="18" charset="0"/>
              </a:rPr>
              <a:t>                  THANKYOU</a:t>
            </a:r>
            <a:endParaRPr lang="en-IN" altLang="en-US" sz="40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TABLE_ENDDRAG_ORIGIN_RECT" val="633*436"/>
  <p:tag name="TABLE_ENDDRAG_RECT" val="48*83*633*436"/>
</p:tagLst>
</file>

<file path=ppt/tags/tag2.xml><?xml version="1.0" encoding="utf-8"?>
<p:tagLst xmlns:p="http://schemas.openxmlformats.org/presentationml/2006/main">
  <p:tag name="TABLE_ENDDRAG_ORIGIN_RECT" val="663*427"/>
  <p:tag name="TABLE_ENDDRAG_RECT" val="25*102*663*427"/>
</p:tagLst>
</file>

<file path=ppt/tags/tag3.xml><?xml version="1.0" encoding="utf-8"?>
<p:tagLst xmlns:p="http://schemas.openxmlformats.org/presentationml/2006/main">
  <p:tag name="TABLE_ENDDRAG_ORIGIN_RECT" val="638*397"/>
  <p:tag name="TABLE_ENDDRAG_RECT" val="53*118*638*397"/>
</p:tagLst>
</file>

<file path=ppt/tags/tag4.xml><?xml version="1.0" encoding="utf-8"?>
<p:tagLst xmlns:p="http://schemas.openxmlformats.org/presentationml/2006/main">
  <p:tag name="TABLE_ENDDRAG_ORIGIN_RECT" val="672*387"/>
  <p:tag name="TABLE_ENDDRAG_RECT" val="25*103*672*387"/>
</p:tagLst>
</file>

<file path=ppt/tags/tag5.xml><?xml version="1.0" encoding="utf-8"?>
<p:tagLst xmlns:p="http://schemas.openxmlformats.org/presentationml/2006/main">
  <p:tag name="TABLE_ENDDRAG_ORIGIN_RECT" val="619*186"/>
  <p:tag name="TABLE_ENDDRAG_RECT" val="50*111*619*18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10533</Words>
  <Application>WPS Presentation</Application>
  <PresentationFormat>On-screen Show (4:3)</PresentationFormat>
  <Paragraphs>330</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19</vt:i4>
      </vt:variant>
    </vt:vector>
  </HeadingPairs>
  <TitlesOfParts>
    <vt:vector size="31" baseType="lpstr">
      <vt:lpstr>Arial</vt:lpstr>
      <vt:lpstr>SimSun</vt:lpstr>
      <vt:lpstr>Wingdings</vt:lpstr>
      <vt:lpstr>Calibri</vt:lpstr>
      <vt:lpstr>Times New Roman</vt:lpstr>
      <vt:lpstr>Calibri</vt:lpstr>
      <vt:lpstr>Arial</vt:lpstr>
      <vt:lpstr>Microsoft YaHei</vt:lpstr>
      <vt:lpstr>Arial Unicode MS</vt:lpstr>
      <vt:lpstr>Office Theme</vt:lpstr>
      <vt:lpstr>1_Office Theme</vt:lpstr>
      <vt:lpstr>2_Office Theme</vt:lpstr>
      <vt:lpstr>Capstone Project – I:  Review – 1 on Enhance the security and privacy of Federated Learning systems</vt:lpstr>
      <vt:lpstr>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Problem Statements</vt:lpstr>
      <vt:lpstr>Objectives</vt:lpstr>
      <vt:lpstr>Work Breakdown &amp; Task Allocation</vt:lpstr>
      <vt:lpstr>Work Breakdown &amp; Task Allocation</vt:lpstr>
      <vt:lpstr>Work Breakdown &amp; Task Allocation</vt:lpstr>
      <vt:lpstr>Work Breakdown &amp; Task Allocation</vt:lpstr>
      <vt:lpstr>Timeline &amp; Milestones (Gantt Chart)</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Anatala Anitha 22238147101</cp:lastModifiedBy>
  <cp:revision>43</cp:revision>
  <dcterms:created xsi:type="dcterms:W3CDTF">2024-09-06T03:49:00Z</dcterms:created>
  <dcterms:modified xsi:type="dcterms:W3CDTF">2025-09-24T04:41:41Z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08BDA7A518074598889F4E1F54B0BD05_12</vt:lpwstr>
  </property>
  <property fmtid="{D5CDD505-2E9C-101B-9397-08002B2CF9AE}" pid="3" name="KSOProductBuildVer">
    <vt:lpwstr>1033-12.2.0.22549</vt:lpwstr>
  </property>
</Properties>
</file>